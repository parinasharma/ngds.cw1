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5efcee5-2aef-e6a2-6181-b05c5885e4aa}">
          <p14:sldIdLst>
            <p14:sldId id="256"/>
            <p14:sldId id="257"/>
            <p14:sldId id="258"/>
          </p14:sldIdLst>
        </p14:section>
        <p14:section name="Data and method" id="{69299791-13ee-6424-c45f-d1841bf664cf}">
          <p14:sldIdLst>
            <p14:sldId id="259"/>
            <p14:sldId id="260"/>
            <p14:sldId id="261"/>
          </p14:sldIdLst>
        </p14:section>
        <p14:section name="Models and results" id="{1bc9efe0-6757-ce08-9e7e-44b3dac85c07}">
          <p14:sldIdLst>
            <p14:sldId id="262"/>
            <p14:sldId id="263"/>
            <p14:sldId id="264"/>
            <p14:sldId id="265"/>
            <p14:sldId id="266"/>
            <p14:sldId id="267"/>
          </p14:sldIdLst>
        </p14:section>
        <p14:section name="Wrap-up" id="{617123c9-7885-b560-68c6-446584ad0bbb}">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38"/>
                </a:solidFill>
                <a:latin typeface="+mn-lt"/>
              </a:defRPr>
            </a:pPr>
            <a:r>
              <a:rPr sz="1400" b="0" i="0" u="none" strike="noStrike">
                <a:solidFill>
                  <a:srgbClr val="1B2A38"/>
                </a:solidFill>
                <a:latin typeface="+mn-lt"/>
              </a:rPr>
              <a:t>Prediction error with Ridge (Wh, lower is better)</a:t>
            </a:r>
          </a:p>
        </c:rich>
      </c:tx>
      <c:layout/>
      <c:overlay val="0"/>
    </c:title>
    <c:autoTitleDeleted val="0"/>
    <c:plotArea>
      <c:layout/>
      <c:barChart>
        <c:barDir val="col"/>
        <c:grouping val="clustered"/>
        <c:varyColors val="0"/>
        <c:ser>
          <c:idx val="0"/>
          <c:order val="0"/>
          <c:tx>
            <c:strRef>
              <c:f>Sheet1!$B$1</c:f>
              <c:strCache>
                <c:ptCount val="1"/>
                <c:pt idx="0">
                  <c:v>CV RMSE</c:v>
                </c:pt>
              </c:strCache>
            </c:strRef>
          </c:tx>
          <c:spPr>
            <a:solidFill>
              <a:srgbClr val="1B998B"/>
            </a:solidFill>
            <a:effectLst/>
          </c:spPr>
          <c:invertIfNegative val="0"/>
          <c:dLbls>
            <c:numFmt formatCode="0.000" sourceLinked="0"/>
            <c:txPr>
              <a:bodyPr/>
              <a:lstStyle/>
              <a:p>
                <a:pPr>
                  <a:defRPr b="0" i="0" strike="noStrike" sz="1100" u="none">
                    <a:solidFill>
                      <a:srgbClr val="1B2A38"/>
                    </a:solidFill>
                    <a:latin typeface="+mn-lt"/>
                  </a:defRPr>
                </a:pPr>
              </a:p>
            </c:txPr>
            <c:showLegendKey val="0"/>
            <c:showVal val="1"/>
            <c:showCatName val="0"/>
            <c:showSerName val="0"/>
            <c:showPercent val="0"/>
            <c:showBubbleSize val="0"/>
            <c:showLeaderLines val="0"/>
          </c:dLbls>
          <c:dPt>
            <c:idx val="0"/>
            <c:invertIfNegative val="0"/>
            <c:bubble3D val="0"/>
            <c:spPr>
              <a:solidFill>
                <a:srgbClr val="1B998B"/>
              </a:solidFill>
              <a:effectLst/>
            </c:spPr>
          </c:dPt>
          <c:dPt>
            <c:idx val="1"/>
            <c:invertIfNegative val="0"/>
            <c:bubble3D val="0"/>
            <c:spPr>
              <a:solidFill>
                <a:srgbClr val="6B7C8C"/>
              </a:solidFill>
              <a:effectLst/>
            </c:spPr>
          </c:dPt>
          <c:dPt>
            <c:idx val="2"/>
            <c:invertIfNegative val="0"/>
            <c:bubble3D val="0"/>
            <c:spPr>
              <a:solidFill>
                <a:srgbClr val="6B7C8C"/>
              </a:solidFill>
              <a:effectLst/>
            </c:spPr>
          </c:dPt>
          <c:cat>
            <c:multiLvlStrRef>
              <c:f>Sheet1!$A$2:$A$4</c:f>
              <c:multiLvlStrCache>
                <c:ptCount val="3"/>
                <c:lvl>
                  <c:pt idx="0">
                    <c:v>Original inputs</c:v>
                  </c:pt>
                  <c:pt idx="1">
                    <c:v>PCA (11 patterns)</c:v>
                  </c:pt>
                  <c:pt idx="2">
                    <c:v>PCA (2 patterns)</c:v>
                  </c:pt>
                </c:lvl>
              </c:multiLvlStrCache>
            </c:multiLvlStrRef>
          </c:cat>
          <c:val>
            <c:numRef>
              <c:f>Sheet1!$B$2:$B$4</c:f>
              <c:numCache>
                <c:formatCode>General</c:formatCode>
                <c:ptCount val="3"/>
                <c:pt idx="0">
                  <c:v>97.244</c:v>
                </c:pt>
                <c:pt idx="1">
                  <c:v>97.471</c:v>
                </c:pt>
                <c:pt idx="2">
                  <c:v>97.29</c:v>
                </c:pt>
              </c:numCache>
            </c:numRef>
          </c:val>
        </c:ser>
        <c:dLbls>
          <c:numFmt formatCode="0.000" sourceLinked="0"/>
          <c:txPr>
            <a:bodyPr/>
            <a:lstStyle/>
            <a:p>
              <a:pPr>
                <a:defRPr b="0" i="0" strike="noStrike" sz="1100" u="none">
                  <a:solidFill>
                    <a:srgbClr val="1B2A3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38"/>
                </a:solidFill>
                <a:latin typeface="+mn-lt"/>
              </a:defRPr>
            </a:pPr>
            <a:endParaRPr lang="en-US"/>
          </a:p>
        </c:txPr>
        <c:crossAx val="2094734552"/>
        <c:crosses val="autoZero"/>
        <c:auto val="1"/>
        <c:lblAlgn val="ctr"/>
        <c:noMultiLvlLbl val="1"/>
      </c:catAx>
      <c:valAx>
        <c:axId val="2094734552"/>
        <c:scaling>
          <c:orientation val="minMax"/>
          <c:max val="120"/>
          <c:min val="0"/>
        </c:scaling>
        <c:delete val="0"/>
        <c:axPos val="l"/>
        <c:majorGridlines>
          <c:spPr>
            <a:ln w="6350" cap="flat">
              <a:solidFill>
                <a:srgbClr val="D5DE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C8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38"/>
                </a:solidFill>
                <a:latin typeface="+mn-lt"/>
              </a:defRPr>
            </a:pPr>
            <a:r>
              <a:rPr sz="1400" b="0" i="0" u="none" strike="noStrike">
                <a:solidFill>
                  <a:srgbClr val="1B2A38"/>
                </a:solidFill>
                <a:latin typeface="+mn-lt"/>
              </a:rPr>
              <a:t>Test error, RMSE (Wh): lower is better</a:t>
            </a:r>
          </a:p>
        </c:rich>
      </c:tx>
      <c:layout/>
      <c:overlay val="0"/>
    </c:title>
    <c:autoTitleDeleted val="0"/>
    <c:plotArea>
      <c:layout/>
      <c:barChart>
        <c:barDir val="bar"/>
        <c:grouping val="clustered"/>
        <c:varyColors val="0"/>
        <c:ser>
          <c:idx val="0"/>
          <c:order val="0"/>
          <c:tx>
            <c:strRef>
              <c:f>Sheet1!$B$1</c:f>
              <c:strCache>
                <c:ptCount val="1"/>
                <c:pt idx="0">
                  <c:v>Test RMSE</c:v>
                </c:pt>
              </c:strCache>
            </c:strRef>
          </c:tx>
          <c:spPr>
            <a:solidFill>
              <a:srgbClr val="1B998B"/>
            </a:solidFill>
            <a:effectLst/>
          </c:spPr>
          <c:invertIfNegative val="0"/>
          <c:dLbls>
            <c:numFmt formatCode="0.0" sourceLinked="0"/>
            <c:txPr>
              <a:bodyPr/>
              <a:lstStyle/>
              <a:p>
                <a:pPr>
                  <a:defRPr b="0" i="0" strike="noStrike" sz="1100" u="none">
                    <a:solidFill>
                      <a:srgbClr val="1B2A38"/>
                    </a:solidFill>
                    <a:latin typeface="+mn-lt"/>
                  </a:defRPr>
                </a:pPr>
              </a:p>
            </c:txPr>
            <c:showLegendKey val="0"/>
            <c:showVal val="1"/>
            <c:showCatName val="0"/>
            <c:showSerName val="0"/>
            <c:showPercent val="0"/>
            <c:showBubbleSize val="0"/>
            <c:showLeaderLines val="0"/>
          </c:dLbls>
          <c:dPt>
            <c:idx val="0"/>
            <c:invertIfNegative val="0"/>
            <c:bubble3D val="0"/>
            <c:spPr>
              <a:solidFill>
                <a:srgbClr val="1B998B"/>
              </a:solidFill>
              <a:effectLst/>
            </c:spPr>
          </c:dPt>
          <c:dPt>
            <c:idx val="1"/>
            <c:invertIfNegative val="0"/>
            <c:bubble3D val="0"/>
            <c:spPr>
              <a:solidFill>
                <a:srgbClr val="1B998B"/>
              </a:solidFill>
              <a:effectLst/>
            </c:spPr>
          </c:dPt>
          <c:dPt>
            <c:idx val="2"/>
            <c:invertIfNegative val="0"/>
            <c:bubble3D val="0"/>
            <c:spPr>
              <a:solidFill>
                <a:srgbClr val="6B7C8C"/>
              </a:solidFill>
              <a:effectLst/>
            </c:spPr>
          </c:dPt>
          <c:dPt>
            <c:idx val="3"/>
            <c:invertIfNegative val="0"/>
            <c:bubble3D val="0"/>
            <c:spPr>
              <a:solidFill>
                <a:srgbClr val="1B998B"/>
              </a:solidFill>
              <a:effectLst/>
            </c:spPr>
          </c:dPt>
          <c:dPt>
            <c:idx val="4"/>
            <c:invertIfNegative val="0"/>
            <c:bubble3D val="0"/>
            <c:spPr>
              <a:solidFill>
                <a:srgbClr val="1B998B"/>
              </a:solidFill>
              <a:effectLst/>
            </c:spPr>
          </c:dPt>
          <c:dPt>
            <c:idx val="5"/>
            <c:invertIfNegative val="0"/>
            <c:bubble3D val="0"/>
            <c:spPr>
              <a:solidFill>
                <a:srgbClr val="1B998B"/>
              </a:solidFill>
              <a:effectLst/>
            </c:spPr>
          </c:dPt>
          <c:dPt>
            <c:idx val="6"/>
            <c:invertIfNegative val="0"/>
            <c:bubble3D val="0"/>
            <c:spPr>
              <a:solidFill>
                <a:srgbClr val="6B7C8C"/>
              </a:solidFill>
              <a:effectLst/>
            </c:spPr>
          </c:dPt>
          <c:dPt>
            <c:idx val="7"/>
            <c:invertIfNegative val="0"/>
            <c:bubble3D val="0"/>
            <c:spPr>
              <a:solidFill>
                <a:srgbClr val="C8553D"/>
              </a:solidFill>
              <a:effectLst/>
            </c:spPr>
          </c:dPt>
          <c:dPt>
            <c:idx val="8"/>
            <c:invertIfNegative val="0"/>
            <c:bubble3D val="0"/>
            <c:spPr>
              <a:solidFill>
                <a:srgbClr val="C8553D"/>
              </a:solidFill>
              <a:effectLst/>
            </c:spPr>
          </c:dPt>
          <c:cat>
            <c:multiLvlStrRef>
              <c:f>Sheet1!$A$2:$A$10</c:f>
              <c:multiLvlStrCache>
                <c:ptCount val="9"/>
                <c:lvl>
                  <c:pt idx="0">
                    <c:v>Random Forest (tuned)</c:v>
                  </c:pt>
                  <c:pt idx="1">
                    <c:v>AutoML (Extra Trees)</c:v>
                  </c:pt>
                  <c:pt idx="2">
                    <c:v>Hour-of-day baseline</c:v>
                  </c:pt>
                  <c:pt idx="3">
                    <c:v>LightGBM (tuned)</c:v>
                  </c:pt>
                  <c:pt idx="4">
                    <c:v>Ridge (default)</c:v>
                  </c:pt>
                  <c:pt idx="5">
                    <c:v>Ridge (tuned)</c:v>
                  </c:pt>
                  <c:pt idx="6">
                    <c:v>Mean baseline</c:v>
                  </c:pt>
                  <c:pt idx="7">
                    <c:v>LightGBM (default)</c:v>
                  </c:pt>
                  <c:pt idx="8">
                    <c:v>Random Forest (default)</c:v>
                  </c:pt>
                </c:lvl>
              </c:multiLvlStrCache>
            </c:multiLvlStrRef>
          </c:cat>
          <c:val>
            <c:numRef>
              <c:f>Sheet1!$B$2:$B$10</c:f>
              <c:numCache>
                <c:formatCode>General</c:formatCode>
                <c:ptCount val="9"/>
                <c:pt idx="0">
                  <c:v>84.513</c:v>
                </c:pt>
                <c:pt idx="1">
                  <c:v>85.447</c:v>
                </c:pt>
                <c:pt idx="2">
                  <c:v>85.482</c:v>
                </c:pt>
                <c:pt idx="3">
                  <c:v>86.807</c:v>
                </c:pt>
                <c:pt idx="4">
                  <c:v>87.366</c:v>
                </c:pt>
                <c:pt idx="5">
                  <c:v>87.777</c:v>
                </c:pt>
                <c:pt idx="6">
                  <c:v>91.053</c:v>
                </c:pt>
                <c:pt idx="7">
                  <c:v>95.567</c:v>
                </c:pt>
                <c:pt idx="8">
                  <c:v>109.943</c:v>
                </c:pt>
              </c:numCache>
            </c:numRef>
          </c:val>
        </c:ser>
        <c:dLbls>
          <c:numFmt formatCode="0.0" sourceLinked="0"/>
          <c:txPr>
            <a:bodyPr/>
            <a:lstStyle/>
            <a:p>
              <a:pPr>
                <a:defRPr b="0" i="0" strike="noStrike" sz="1100" u="none">
                  <a:solidFill>
                    <a:srgbClr val="1B2A3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A38"/>
                </a:solidFill>
                <a:latin typeface="+mn-lt"/>
              </a:defRPr>
            </a:pPr>
            <a:endParaRPr lang="en-US"/>
          </a:p>
        </c:txPr>
        <c:crossAx val="2094734552"/>
        <c:crosses val="autoZero"/>
        <c:auto val="1"/>
        <c:lblAlgn val="ctr"/>
        <c:noMultiLvlLbl val="1"/>
      </c:catAx>
      <c:valAx>
        <c:axId val="2094734552"/>
        <c:scaling>
          <c:orientation val="minMax"/>
          <c:max val="135"/>
          <c:min val="0"/>
        </c:scaling>
        <c:delete val="1"/>
        <c:axPos val="b"/>
        <c:majorGridlines>
          <c:spPr>
            <a:ln w="6350" cap="flat">
              <a:solidFill>
                <a:srgbClr val="D5DE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C8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38"/>
                </a:solidFill>
                <a:latin typeface="+mn-lt"/>
              </a:defRPr>
            </a:pPr>
            <a:r>
              <a:rPr sz="1400" b="0" i="0" u="none" strike="noStrike">
                <a:solidFill>
                  <a:srgbClr val="1B2A38"/>
                </a:solidFill>
                <a:latin typeface="+mn-lt"/>
              </a:rPr>
              <a:t>Variation explained, R² (higher is better)</a:t>
            </a:r>
          </a:p>
        </c:rich>
      </c:tx>
      <c:layout/>
      <c:overlay val="0"/>
    </c:title>
    <c:autoTitleDeleted val="0"/>
    <c:plotArea>
      <c:layout/>
      <c:barChart>
        <c:barDir val="col"/>
        <c:grouping val="clustered"/>
        <c:varyColors val="0"/>
        <c:ser>
          <c:idx val="0"/>
          <c:order val="0"/>
          <c:tx>
            <c:strRef>
              <c:f>Sheet1!$B$1</c:f>
              <c:strCache>
                <c:ptCount val="1"/>
                <c:pt idx="0">
                  <c:v>R2</c:v>
                </c:pt>
              </c:strCache>
            </c:strRef>
          </c:tx>
          <c:spPr>
            <a:solidFill>
              <a:srgbClr val="6B7C8C"/>
            </a:solidFill>
            <a:effectLst/>
          </c:spPr>
          <c:invertIfNegative val="0"/>
          <c:dLbls>
            <c:numFmt formatCode="0.000" sourceLinked="0"/>
            <c:txPr>
              <a:bodyPr/>
              <a:lstStyle/>
              <a:p>
                <a:pPr>
                  <a:defRPr b="0" i="0" strike="noStrike" sz="1100" u="none">
                    <a:solidFill>
                      <a:srgbClr val="1B2A38"/>
                    </a:solidFill>
                    <a:latin typeface="+mn-lt"/>
                  </a:defRPr>
                </a:pPr>
              </a:p>
            </c:txPr>
            <c:showLegendKey val="0"/>
            <c:showVal val="1"/>
            <c:showCatName val="0"/>
            <c:showSerName val="0"/>
            <c:showPercent val="0"/>
            <c:showBubbleSize val="0"/>
            <c:showLeaderLines val="0"/>
          </c:dLbls>
          <c:dPt>
            <c:idx val="0"/>
            <c:invertIfNegative val="0"/>
            <c:bubble3D val="0"/>
            <c:spPr>
              <a:solidFill>
                <a:srgbClr val="6B7C8C"/>
              </a:solidFill>
              <a:effectLst/>
            </c:spPr>
          </c:dPt>
          <c:dPt>
            <c:idx val="1"/>
            <c:invertIfNegative val="0"/>
            <c:bubble3D val="0"/>
            <c:spPr>
              <a:solidFill>
                <a:srgbClr val="6B7C8C"/>
              </a:solidFill>
              <a:effectLst/>
            </c:spPr>
          </c:dPt>
          <c:dPt>
            <c:idx val="2"/>
            <c:invertIfNegative val="0"/>
            <c:bubble3D val="0"/>
            <c:spPr>
              <a:solidFill>
                <a:srgbClr val="F4A300"/>
              </a:solidFill>
              <a:effectLst/>
            </c:spPr>
          </c:dPt>
          <c:dPt>
            <c:idx val="3"/>
            <c:invertIfNegative val="0"/>
            <c:bubble3D val="0"/>
            <c:spPr>
              <a:solidFill>
                <a:srgbClr val="F4A300"/>
              </a:solidFill>
              <a:effectLst/>
            </c:spPr>
          </c:dPt>
          <c:cat>
            <c:multiLvlStrRef>
              <c:f>Sheet1!$A$2:$A$5</c:f>
              <c:multiLvlStrCache>
                <c:ptCount val="4"/>
                <c:lvl>
                  <c:pt idx="0">
                    <c:v>A Ridge</c:v>
                  </c:pt>
                  <c:pt idx="1">
                    <c:v>A LightGBM</c:v>
                  </c:pt>
                  <c:pt idx="2">
                    <c:v>B Ridge</c:v>
                  </c:pt>
                  <c:pt idx="3">
                    <c:v>B LightGBM</c:v>
                  </c:pt>
                </c:lvl>
              </c:multiLvlStrCache>
            </c:multiLvlStrRef>
          </c:cat>
          <c:val>
            <c:numRef>
              <c:f>Sheet1!$B$2:$B$5</c:f>
              <c:numCache>
                <c:formatCode>General</c:formatCode>
                <c:ptCount val="4"/>
                <c:pt idx="0">
                  <c:v>0.07</c:v>
                </c:pt>
                <c:pt idx="1">
                  <c:v>0.091</c:v>
                </c:pt>
                <c:pt idx="2">
                  <c:v>0.549</c:v>
                </c:pt>
                <c:pt idx="3">
                  <c:v>0.562</c:v>
                </c:pt>
              </c:numCache>
            </c:numRef>
          </c:val>
        </c:ser>
        <c:dLbls>
          <c:numFmt formatCode="0.000" sourceLinked="0"/>
          <c:txPr>
            <a:bodyPr/>
            <a:lstStyle/>
            <a:p>
              <a:pPr>
                <a:defRPr b="0" i="0" strike="noStrike" sz="1100" u="none">
                  <a:solidFill>
                    <a:srgbClr val="1B2A3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38"/>
                </a:solidFill>
                <a:latin typeface="+mn-lt"/>
              </a:defRPr>
            </a:pPr>
            <a:endParaRPr lang="en-US"/>
          </a:p>
        </c:txPr>
        <c:crossAx val="2094734552"/>
        <c:crosses val="autoZero"/>
        <c:auto val="1"/>
        <c:lblAlgn val="ctr"/>
        <c:noMultiLvlLbl val="1"/>
      </c:catAx>
      <c:valAx>
        <c:axId val="2094734552"/>
        <c:scaling>
          <c:orientation val="minMax"/>
          <c:max val="0.7"/>
          <c:min val="0"/>
        </c:scaling>
        <c:delete val="0"/>
        <c:axPos val="l"/>
        <c:majorGridlines>
          <c:spPr>
            <a:ln w="6350" cap="flat">
              <a:solidFill>
                <a:srgbClr val="D5DE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C8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project predicts household appliance energy use from a Jupyter notebook analysis of the UCI Appliances Energy Prediction dataset. I will cover the data, preprocessing, modelling, evaluation, explainability and anomaly detection, and I will be careful to say what each result does and does not show. All numbers in this deck are saved outputs from my notebook. Before presenting, fill in the module and submission date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 the dataset has 10-minute readings from one low-energy house in Belgium over about 4.5 months; the target is Appliances energy use in Wh. The central question from the notebook is whether we can predict consumption reliably, understand what drives the predictions, and flag unusual readings without confusing prediction errors with confirmed energy waste. The numbers at the bottom explain why this is hard: the target is strongly right-skewed (skewness 3.39), the median is 60 Wh but the 99th percentile is 576.6 Wh. Short bursts of high use dominate the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has four goals. First, predict reliably: I used a chronological split and compared every model with simple baselines, because a complex model is only useful if it beats them. Second, understand the drivers using PCA, permutation importance and SHAP. Third, flag unusual readings, but treat flags as prompts for investigation rather than evidence of waste. Fourth, compare two prediction tasks: Track A uses only time and environmental information; Track B also uses recent consumption, so it is a short-term forecast. The workflow at the bottom is the structure of the rest of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has 19,735 rows and 29 columns: a timestamp, the target Appliances, 25 predictors (lights, nine indoor temperature and humidity sensors each, and outdoor weather variables), plus two random-noise columns rv1 and rv2 that I dropped because they are identical. Readings are every 10 minutes from 11 January to 27 May 2016. The table shows how skewed the target is: mean 97.69 Wh, median 60 Wh, maximum 1,080 Wh. The notebook audit found no missing values or duplicates.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Theory: a prediction model is only trustworthy if it is tested on data it has never seen, and for time series that means data from the future. So I split by time, not at random: train on 11 January to 30 April, test on 30 April to 27 May. Scaling is learned from the training data only, otherwise information from the test period would leak into the model and make results look better than they are. The data was already clean, with no missing values or duplicates. The 15,788 training rows is derived from 19,735 minus the 3,947 test rows. How it helps: a fair test tells a real user how the model would behave on new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Theory: raw clock times and sensor values hide patterns. Energy use follows daily routine, so I turned the timestamp into hour, weekday and weekend. Hours are circular, 23:00 is next to 00:00, so I encoded them with sine and cosine. I also built an indoor minus outdoor temperature gap as a signal for heating demand, and indoor sensor averages. A stability check then compared the first and second half of the training period and removed features whose values drifted. That left 16 of 34 features. The sensor averages and month were removed; the time features and the temperature gap stayed. How it helps: simple, meaningful inputs are easier to explain and less likely to fail on new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Theory: many of the 25 sensors move together, for example all the temperature sensors. Principal Component Analysis compresses them into a few independent patterns. The first pattern, 37.3% of variation, is mostly temperature; the second, 28.3%, is mostly humidity; together 65.6%. I then tested whether predicting from these patterns works better than using the original inputs. It did not: error was 97.244 with the original inputs and slightly higher with PCA, 97.471 and 97.290. Lower is better. So PCA is used to understand the data, not to improve prediction. How it helps: it shows the sensors are very redundant, so a cheaper setup with fewer sensors may be worth testing. Note: the patterns come from 25 raw sensor columns, while the Ridge test uses the 16 selected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Theory: start simple, then add complexity only if it earns its place. Baselines are the yardstick: predicting the overall average, or the average for that hour of day. Ridge is a regularised straight-line model. Random Forest averages many decision trees. LightGBM builds trees that correct each other. AutoML tries several model types automatically and picks by cross-validation; it chose Extra Trees. The big numbers are test errors in Wh, lower is better. Key result: untuned Random Forest, 109.943, and LightGBM, 95.567, were worse than just predicting the average, 91.053. Complexity alone did not help. How it helps: starting from baselines protects against choosing an impressive model that adds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Theory: every model has settings, like tree depth, that control how closely it fits. Tuning searches for good settings using only training data, with time-ordered validation. We judge models with three measures: RMSE and MAE are average errors in Wh, lower is better; R² is the share of variation explained, higher is better, and below zero is worse than predicting the average. The tuned Random Forest was best on RMSE, 84.513 Wh, and AutoML best on MAE, 43.867 Wh. Tuning rescued Random Forest, 109.943 to 84.513, but R² is only 0.138, so weather and time alone explain little. All scores are on the same 3,947-reading test period. The ranking is descriptive because the best model is chosen on the test set. How it helps: realistic expectations, useful for rough planning, not precise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Theory: complex models can be black boxes. Explainable AI opens them up. SHAP assigns each input a share of credit for each prediction, and permutation importance measures how much the error grows when an input is scrambled. Here time of day, lighting and the indoor to outdoor temperature gap matter most. The methods only partly agree, which is why I do not over-read one ranking. Two limits: this explains the tuned LightGBM model, not the best Random Forest, and importance shows what the model uses, not what causes energy use. How it helps: it shows when and why predicted demand rises, which makes the model easier to trust and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Theory: an anomaly is a reading that is surprising, either because the model predicted it badly or because conditions were unusual. I used two views. A robust residual score flags readings where the prediction error is very large: 313 readings, 7.9%. Isolation Forest flags unusual combinations of conditions: 79 readings, 2.0%. Only 20 were flagged by both, so they answer different questions. Example: on 26 May 2016 at 16:40 actual use was 850 Wh and the model predicted 73.8 Wh. A big error means the model was surprised, not that energy was wasted. Both flags were computed within the test period, so they are descriptive. How it helps: it can point people to moments worth checking, but needs context to confirm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Theory: what you can predict depends on what you know. Track A uses only time and weather-type information. Track B also sees recent consumption, so it is a 10-minute-ahead forecast. They are different tasks, so each is judged against its own baseline: Track A against the hour-of-day average, Track B against simply repeating the last reading. Recent use raises R² from about 0.09 to 0.56, and the previous reading is the strongest predictor. Tuned LightGBM has the best error, 60.226 Wh, but tuned Ridge was the only model to beat repeat-the-last-reading on both RMSE and MAE. How it helps: short-term forecasts could support near-real-time feedback, but only if recent meter readings are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Findings: conditions-only prediction is hard and gains over simple baselines are small; time features carry most of the signal; default Random Forest and LightGBM underperformed the mean baseline until tuned; PCA did not help; recent consumption improves forecasting a lot. Limitations matter just as much: one house and one test period of about four weeks; tiny margins between the top Track A models; peaks stay hard (MAE 396.5 Wh for readings above 400 Wh with the tuned LightGBM in Track A, 239.7 Wh in Track B); distribution shift between training and test periods; and explanation and anomaly results describe model behaviour, not causes or waste. Finally, the anomaly flags and Isolation Forest were computed within the test period itself, so they are exploratory.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of best results: in Track A, tuned Random Forest has the lowest RMSE at 84.513 Wh with R² 0.138, and AutoML Extra Trees the lowest MAE at 43.867 Wh. In Track B, tuned LightGBM has the best RMSE (60.226 Wh) and R² (0.562), while Ridge was the model that beat persistence on both RMSE and MAE. The first future-work item, more homes and time periods, comes from the notebook conclusion. The others are my proposals, not results: repeat with rolling-origin splits, set anomaly thresholds on training or validation data only, add context such as occupancy before interpreting flagged peaks, and try approaches aimed at peaks.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am happy to take questions on the data, the evaluation design, the Track A versus Track B comparison, or the limits of the explainability and anomaly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F2A4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786384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446520"/>
            <a:ext cx="8229600" cy="274320"/>
          </a:xfrm>
          <a:prstGeom prst="rect">
            <a:avLst/>
          </a:prstGeom>
          <a:noFill/>
          <a:ln/>
        </p:spPr>
        <p:txBody>
          <a:bodyPr wrap="square" rtlCol="0" anchor="ctr"/>
          <a:lstStyle/>
          <a:p>
            <a:pPr indent="0" marL="0">
              <a:buNone/>
            </a:pPr>
            <a:r>
              <a:rPr lang="en-US" sz="1000" dirty="0">
                <a:solidFill>
                  <a:schemeClr val="accent5"/>
                </a:solidFill>
              </a:rPr>
              <a:t>Appliances Energy Consumption Prediction Using Machine Learning</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7863840" cy="2103120"/>
          </a:xfrm>
          <a:prstGeom prst="rect">
            <a:avLst/>
          </a:prstGeom>
          <a:noFill/>
          <a:ln/>
        </p:spPr>
        <p:txBody>
          <a:bodyPr wrap="square" rtlCol="0" anchor="t"/>
          <a:lstStyle/>
          <a:p>
            <a:pPr algn="l" indent="0" marL="0">
              <a:buNone/>
            </a:pPr>
            <a:r>
              <a:rPr lang="en-US" sz="4400" b="1" dirty="0">
                <a:solidFill>
                  <a:schemeClr val="bg1"/>
                </a:solidFill>
              </a:rPr>
              <a:t>Appliances Energy Consumption Prediction Using Machine Learning</a:t>
            </a:r>
            <a:endParaRPr lang="en-US" sz="4400" dirty="0"/>
          </a:p>
        </p:txBody>
      </p:sp>
      <p:sp>
        <p:nvSpPr>
          <p:cNvPr id="3" name="Text 1"/>
          <p:cNvSpPr txBox="1"/>
          <p:nvPr/>
        </p:nvSpPr>
        <p:spPr>
          <a:xfrm>
            <a:off x="731520" y="3749040"/>
            <a:ext cx="7680960" cy="731520"/>
          </a:xfrm>
          <a:prstGeom prst="rect">
            <a:avLst/>
          </a:prstGeom>
          <a:noFill/>
          <a:ln/>
        </p:spPr>
        <p:txBody>
          <a:bodyPr wrap="square" lIns="0" tIns="0" rIns="0" bIns="0" rtlCol="0" anchor="t"/>
          <a:lstStyle/>
          <a:p>
            <a:pPr indent="0" marL="0">
              <a:buNone/>
            </a:pPr>
            <a:r>
              <a:rPr lang="en-US" sz="2000" dirty="0">
                <a:solidFill>
                  <a:schemeClr val="accent6"/>
                </a:solidFill>
              </a:rPr>
              <a:t>Prediction, explanation and anomaly review on the UCI Appliances Energy Prediction dataset</a:t>
            </a:r>
            <a:endParaRPr lang="en-US" sz="2000" dirty="0"/>
          </a:p>
        </p:txBody>
      </p:sp>
      <p:sp>
        <p:nvSpPr>
          <p:cNvPr id="4" name="Text 2"/>
          <p:cNvSpPr txBox="1"/>
          <p:nvPr/>
        </p:nvSpPr>
        <p:spPr>
          <a:xfrm>
            <a:off x="731520" y="4846320"/>
            <a:ext cx="7315200" cy="365760"/>
          </a:xfrm>
          <a:prstGeom prst="rect">
            <a:avLst/>
          </a:prstGeom>
          <a:noFill/>
          <a:ln/>
        </p:spPr>
        <p:txBody>
          <a:bodyPr wrap="square" lIns="0" tIns="0" rIns="0" bIns="0" rtlCol="0" anchor="t"/>
          <a:lstStyle/>
          <a:p>
            <a:pPr indent="0" marL="0">
              <a:buNone/>
            </a:pPr>
            <a:r>
              <a:rPr lang="en-US" sz="1800" dirty="0">
                <a:solidFill>
                  <a:schemeClr val="bg1"/>
                </a:solidFill>
              </a:rPr>
              <a:t>Student: Anna</a:t>
            </a:r>
            <a:endParaRPr lang="en-US" sz="1800" dirty="0"/>
          </a:p>
        </p:txBody>
      </p:sp>
      <p:sp>
        <p:nvSpPr>
          <p:cNvPr id="5" name="Text 3"/>
          <p:cNvSpPr txBox="1"/>
          <p:nvPr/>
        </p:nvSpPr>
        <p:spPr>
          <a:xfrm>
            <a:off x="731520" y="5303520"/>
            <a:ext cx="7315200" cy="365760"/>
          </a:xfrm>
          <a:prstGeom prst="rect">
            <a:avLst/>
          </a:prstGeom>
          <a:noFill/>
          <a:ln/>
        </p:spPr>
        <p:txBody>
          <a:bodyPr wrap="square" lIns="0" tIns="0" rIns="0" bIns="0" rtlCol="0" anchor="t"/>
          <a:lstStyle/>
          <a:p>
            <a:pPr indent="0" marL="0">
              <a:buNone/>
            </a:pPr>
            <a:r>
              <a:rPr lang="en-US" sz="1600" dirty="0">
                <a:solidFill>
                  <a:schemeClr val="accent6"/>
                </a:solidFill>
              </a:rPr>
              <a:t>[Module code and title]   |   [Submission date]</a:t>
            </a:r>
            <a:endParaRPr lang="en-US" sz="1600" dirty="0"/>
          </a:p>
        </p:txBody>
      </p:sp>
      <p:sp>
        <p:nvSpPr>
          <p:cNvPr id="6" name="Shape 4"/>
          <p:cNvSpPr/>
          <p:nvPr/>
        </p:nvSpPr>
        <p:spPr>
          <a:xfrm>
            <a:off x="8686800" y="914400"/>
            <a:ext cx="3108960" cy="3108960"/>
          </a:xfrm>
          <a:prstGeom prst="ellipse">
            <a:avLst/>
          </a:prstGeom>
          <a:noFill/>
          <a:ln w="38100">
            <a:solidFill>
              <a:srgbClr val="1B998B"/>
            </a:solidFill>
            <a:prstDash val="solid"/>
          </a:ln>
        </p:spPr>
      </p:sp>
      <p:sp>
        <p:nvSpPr>
          <p:cNvPr id="7" name="Shape 5"/>
          <p:cNvSpPr/>
          <p:nvPr/>
        </p:nvSpPr>
        <p:spPr>
          <a:xfrm>
            <a:off x="9326880" y="1554480"/>
            <a:ext cx="1828800" cy="1828800"/>
          </a:xfrm>
          <a:prstGeom prst="ellipse">
            <a:avLst/>
          </a:prstGeom>
          <a:noFill/>
          <a:ln w="38100">
            <a:solidFill>
              <a:srgbClr val="F4A300"/>
            </a:solidFill>
            <a:prstDash val="solid"/>
          </a:ln>
        </p:spPr>
      </p:sp>
      <p:sp>
        <p:nvSpPr>
          <p:cNvPr id="8" name="Shape 6"/>
          <p:cNvSpPr/>
          <p:nvPr/>
        </p:nvSpPr>
        <p:spPr>
          <a:xfrm>
            <a:off x="9966960" y="2194560"/>
            <a:ext cx="548640" cy="548640"/>
          </a:xfrm>
          <a:prstGeom prst="ellipse">
            <a:avLst/>
          </a:prstGeom>
          <a:solidFill>
            <a:srgbClr val="F4A300"/>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400" b="1" dirty="0">
                <a:solidFill>
                  <a:schemeClr val="tx2"/>
                </a:solidFill>
              </a:rPr>
              <a:t>Introduction</a:t>
            </a:r>
            <a:endParaRPr lang="en-US" sz="3400" dirty="0"/>
          </a:p>
        </p:txBody>
      </p:sp>
      <p:sp>
        <p:nvSpPr>
          <p:cNvPr id="4" name="Card"/>
          <p:cNvSpPr/>
          <p:nvPr/>
        </p:nvSpPr>
        <p:spPr>
          <a:xfrm>
            <a:off x="548640" y="1280160"/>
            <a:ext cx="3474720" cy="2926080"/>
          </a:xfrm>
          <a:prstGeom prst="roundRect">
            <a:avLst>
              <a:gd name="adj" fmla="val 3125"/>
            </a:avLst>
          </a:prstGeom>
          <a:solidFill>
            <a:schemeClr val="bg2"/>
          </a:solidFill>
          <a:ln/>
        </p:spPr>
      </p:sp>
      <p:sp>
        <p:nvSpPr>
          <p:cNvPr id="5" name="Text 2"/>
          <p:cNvSpPr txBox="1"/>
          <p:nvPr/>
        </p:nvSpPr>
        <p:spPr>
          <a:xfrm>
            <a:off x="731520" y="1463040"/>
            <a:ext cx="3108960" cy="365760"/>
          </a:xfrm>
          <a:prstGeom prst="rect">
            <a:avLst/>
          </a:prstGeom>
          <a:noFill/>
          <a:ln/>
        </p:spPr>
        <p:txBody>
          <a:bodyPr wrap="square" lIns="0" tIns="0" rIns="0" bIns="0" rtlCol="0" anchor="t"/>
          <a:lstStyle/>
          <a:p>
            <a:pPr indent="0" marL="0">
              <a:buNone/>
            </a:pPr>
            <a:r>
              <a:rPr lang="en-US" sz="2000" b="1" dirty="0">
                <a:solidFill>
                  <a:schemeClr val="accent1"/>
                </a:solidFill>
              </a:rPr>
              <a:t>Background</a:t>
            </a:r>
            <a:endParaRPr lang="en-US" sz="2000" dirty="0"/>
          </a:p>
        </p:txBody>
      </p:sp>
      <p:sp>
        <p:nvSpPr>
          <p:cNvPr id="6" name="Text 3"/>
          <p:cNvSpPr txBox="1"/>
          <p:nvPr/>
        </p:nvSpPr>
        <p:spPr>
          <a:xfrm>
            <a:off x="731520" y="1965960"/>
            <a:ext cx="3108960" cy="2103120"/>
          </a:xfrm>
          <a:prstGeom prst="rect">
            <a:avLst/>
          </a:prstGeom>
          <a:noFill/>
          <a:ln/>
        </p:spPr>
        <p:txBody>
          <a:bodyPr wrap="square" lIns="0" tIns="0" rIns="0" bIns="0" rtlCol="0" anchor="t"/>
          <a:lstStyle/>
          <a:p>
            <a:pPr indent="0" marL="0">
              <a:buNone/>
            </a:pPr>
            <a:r>
              <a:rPr lang="en-US" sz="1400" dirty="0">
                <a:solidFill>
                  <a:schemeClr val="tx1"/>
                </a:solidFill>
              </a:rPr>
              <a:t>UCI Appliances Energy Prediction: 10-minute readings from one low-energy house in Belgium, about 4.5 months (11 Jan - 27 May 2016). Target: Appliances energy use in Wh.</a:t>
            </a:r>
            <a:endParaRPr lang="en-US" sz="1400" dirty="0"/>
          </a:p>
        </p:txBody>
      </p:sp>
      <p:sp>
        <p:nvSpPr>
          <p:cNvPr id="7" name="Card"/>
          <p:cNvSpPr/>
          <p:nvPr/>
        </p:nvSpPr>
        <p:spPr>
          <a:xfrm>
            <a:off x="4343400" y="1280160"/>
            <a:ext cx="3474720" cy="2926080"/>
          </a:xfrm>
          <a:prstGeom prst="roundRect">
            <a:avLst>
              <a:gd name="adj" fmla="val 3125"/>
            </a:avLst>
          </a:prstGeom>
          <a:solidFill>
            <a:schemeClr val="bg2"/>
          </a:solidFill>
          <a:ln/>
        </p:spPr>
      </p:sp>
      <p:sp>
        <p:nvSpPr>
          <p:cNvPr id="8" name="Text 5"/>
          <p:cNvSpPr txBox="1"/>
          <p:nvPr/>
        </p:nvSpPr>
        <p:spPr>
          <a:xfrm>
            <a:off x="4526280" y="1463040"/>
            <a:ext cx="3108960" cy="365760"/>
          </a:xfrm>
          <a:prstGeom prst="rect">
            <a:avLst/>
          </a:prstGeom>
          <a:noFill/>
          <a:ln/>
        </p:spPr>
        <p:txBody>
          <a:bodyPr wrap="square" lIns="0" tIns="0" rIns="0" bIns="0" rtlCol="0" anchor="t"/>
          <a:lstStyle/>
          <a:p>
            <a:pPr indent="0" marL="0">
              <a:buNone/>
            </a:pPr>
            <a:r>
              <a:rPr lang="en-US" sz="2000" b="1" dirty="0">
                <a:solidFill>
                  <a:schemeClr val="accent1"/>
                </a:solidFill>
              </a:rPr>
              <a:t>Problem</a:t>
            </a:r>
            <a:endParaRPr lang="en-US" sz="2000" dirty="0"/>
          </a:p>
        </p:txBody>
      </p:sp>
      <p:sp>
        <p:nvSpPr>
          <p:cNvPr id="9" name="Text 6"/>
          <p:cNvSpPr txBox="1"/>
          <p:nvPr/>
        </p:nvSpPr>
        <p:spPr>
          <a:xfrm>
            <a:off x="4526280" y="1965960"/>
            <a:ext cx="3108960" cy="2103120"/>
          </a:xfrm>
          <a:prstGeom prst="rect">
            <a:avLst/>
          </a:prstGeom>
          <a:noFill/>
          <a:ln/>
        </p:spPr>
        <p:txBody>
          <a:bodyPr wrap="square" lIns="0" tIns="0" rIns="0" bIns="0" rtlCol="0" anchor="t"/>
          <a:lstStyle/>
          <a:p>
            <a:pPr indent="0" marL="0">
              <a:buNone/>
            </a:pPr>
            <a:r>
              <a:rPr lang="en-US" sz="1400" dirty="0">
                <a:solidFill>
                  <a:schemeClr val="tx1"/>
                </a:solidFill>
              </a:rPr>
              <a:t>Can appliance energy use be predicted reliably, which factors drive the predictions, and can unusual readings be flagged without confusing prediction errors with confirmed energy waste?</a:t>
            </a:r>
            <a:endParaRPr lang="en-US" sz="1400" dirty="0"/>
          </a:p>
        </p:txBody>
      </p:sp>
      <p:sp>
        <p:nvSpPr>
          <p:cNvPr id="10" name="Card"/>
          <p:cNvSpPr/>
          <p:nvPr/>
        </p:nvSpPr>
        <p:spPr>
          <a:xfrm>
            <a:off x="8138160" y="1280160"/>
            <a:ext cx="3474720" cy="2926080"/>
          </a:xfrm>
          <a:prstGeom prst="roundRect">
            <a:avLst>
              <a:gd name="adj" fmla="val 3125"/>
            </a:avLst>
          </a:prstGeom>
          <a:solidFill>
            <a:schemeClr val="bg2"/>
          </a:solidFill>
          <a:ln/>
        </p:spPr>
      </p:sp>
      <p:sp>
        <p:nvSpPr>
          <p:cNvPr id="11" name="Text 8"/>
          <p:cNvSpPr txBox="1"/>
          <p:nvPr/>
        </p:nvSpPr>
        <p:spPr>
          <a:xfrm>
            <a:off x="8321040" y="1463040"/>
            <a:ext cx="3108960" cy="365760"/>
          </a:xfrm>
          <a:prstGeom prst="rect">
            <a:avLst/>
          </a:prstGeom>
          <a:noFill/>
          <a:ln/>
        </p:spPr>
        <p:txBody>
          <a:bodyPr wrap="square" lIns="0" tIns="0" rIns="0" bIns="0" rtlCol="0" anchor="t"/>
          <a:lstStyle/>
          <a:p>
            <a:pPr indent="0" marL="0">
              <a:buNone/>
            </a:pPr>
            <a:r>
              <a:rPr lang="en-US" sz="2000" b="1" dirty="0">
                <a:solidFill>
                  <a:schemeClr val="accent1"/>
                </a:solidFill>
              </a:rPr>
              <a:t>Why it is hard</a:t>
            </a:r>
            <a:endParaRPr lang="en-US" sz="2000" dirty="0"/>
          </a:p>
        </p:txBody>
      </p:sp>
      <p:sp>
        <p:nvSpPr>
          <p:cNvPr id="12" name="Text 9"/>
          <p:cNvSpPr txBox="1"/>
          <p:nvPr/>
        </p:nvSpPr>
        <p:spPr>
          <a:xfrm>
            <a:off x="8321040" y="1965960"/>
            <a:ext cx="3108960" cy="2103120"/>
          </a:xfrm>
          <a:prstGeom prst="rect">
            <a:avLst/>
          </a:prstGeom>
          <a:noFill/>
          <a:ln/>
        </p:spPr>
        <p:txBody>
          <a:bodyPr wrap="square" lIns="0" tIns="0" rIns="0" bIns="0" rtlCol="0" anchor="t"/>
          <a:lstStyle/>
          <a:p>
            <a:pPr indent="0" marL="0">
              <a:buNone/>
            </a:pPr>
            <a:r>
              <a:rPr lang="en-US" sz="1400" dirty="0">
                <a:solidFill>
                  <a:schemeClr val="tx1"/>
                </a:solidFill>
              </a:rPr>
              <a:t>Consumption is spiky and right-skewed. Short bursts of high use dominate the error and are the hardest readings to predict.</a:t>
            </a:r>
            <a:endParaRPr lang="en-US" sz="1400" dirty="0"/>
          </a:p>
        </p:txBody>
      </p:sp>
      <p:sp>
        <p:nvSpPr>
          <p:cNvPr id="13" name="Card"/>
          <p:cNvSpPr/>
          <p:nvPr/>
        </p:nvSpPr>
        <p:spPr>
          <a:xfrm>
            <a:off x="548640" y="4526280"/>
            <a:ext cx="2606040" cy="1280160"/>
          </a:xfrm>
          <a:prstGeom prst="roundRect">
            <a:avLst>
              <a:gd name="adj" fmla="val 7143"/>
            </a:avLst>
          </a:prstGeom>
          <a:solidFill>
            <a:schemeClr val="bg2"/>
          </a:solidFill>
          <a:ln/>
        </p:spPr>
      </p:sp>
      <p:sp>
        <p:nvSpPr>
          <p:cNvPr id="14" name="Text 11"/>
          <p:cNvSpPr txBox="1"/>
          <p:nvPr/>
        </p:nvSpPr>
        <p:spPr>
          <a:xfrm>
            <a:off x="685800" y="4636008"/>
            <a:ext cx="2331720" cy="640080"/>
          </a:xfrm>
          <a:prstGeom prst="rect">
            <a:avLst/>
          </a:prstGeom>
          <a:noFill/>
          <a:ln/>
        </p:spPr>
        <p:txBody>
          <a:bodyPr wrap="square" lIns="0" tIns="0" rIns="0" bIns="0" rtlCol="0" anchor="ctr"/>
          <a:lstStyle/>
          <a:p>
            <a:pPr indent="0" marL="0">
              <a:buNone/>
            </a:pPr>
            <a:r>
              <a:rPr lang="en-US" sz="2800" b="1" dirty="0">
                <a:solidFill>
                  <a:schemeClr val="tx2"/>
                </a:solidFill>
              </a:rPr>
              <a:t>3.39</a:t>
            </a:r>
            <a:endParaRPr lang="en-US" sz="2800" dirty="0"/>
          </a:p>
        </p:txBody>
      </p:sp>
      <p:sp>
        <p:nvSpPr>
          <p:cNvPr id="15" name="Text 12"/>
          <p:cNvSpPr txBox="1"/>
          <p:nvPr/>
        </p:nvSpPr>
        <p:spPr>
          <a:xfrm>
            <a:off x="685800" y="5276088"/>
            <a:ext cx="2331720" cy="512064"/>
          </a:xfrm>
          <a:prstGeom prst="rect">
            <a:avLst/>
          </a:prstGeom>
          <a:noFill/>
          <a:ln/>
        </p:spPr>
        <p:txBody>
          <a:bodyPr wrap="square" lIns="0" tIns="0" rIns="0" bIns="0" rtlCol="0" anchor="t"/>
          <a:lstStyle/>
          <a:p>
            <a:pPr indent="0" marL="0">
              <a:buNone/>
            </a:pPr>
            <a:r>
              <a:rPr lang="en-US" sz="1200" dirty="0">
                <a:solidFill>
                  <a:schemeClr val="accent5"/>
                </a:solidFill>
              </a:rPr>
              <a:t>skewness of Appliances</a:t>
            </a:r>
            <a:endParaRPr lang="en-US" sz="1200" dirty="0"/>
          </a:p>
        </p:txBody>
      </p:sp>
      <p:sp>
        <p:nvSpPr>
          <p:cNvPr id="16" name="Card"/>
          <p:cNvSpPr/>
          <p:nvPr/>
        </p:nvSpPr>
        <p:spPr>
          <a:xfrm>
            <a:off x="3383280" y="4526280"/>
            <a:ext cx="2606040" cy="1280160"/>
          </a:xfrm>
          <a:prstGeom prst="roundRect">
            <a:avLst>
              <a:gd name="adj" fmla="val 7143"/>
            </a:avLst>
          </a:prstGeom>
          <a:solidFill>
            <a:schemeClr val="bg2"/>
          </a:solidFill>
          <a:ln/>
        </p:spPr>
      </p:sp>
      <p:sp>
        <p:nvSpPr>
          <p:cNvPr id="17" name="Text 14"/>
          <p:cNvSpPr txBox="1"/>
          <p:nvPr/>
        </p:nvSpPr>
        <p:spPr>
          <a:xfrm>
            <a:off x="3520440" y="4636008"/>
            <a:ext cx="2331720" cy="640080"/>
          </a:xfrm>
          <a:prstGeom prst="rect">
            <a:avLst/>
          </a:prstGeom>
          <a:noFill/>
          <a:ln/>
        </p:spPr>
        <p:txBody>
          <a:bodyPr wrap="square" lIns="0" tIns="0" rIns="0" bIns="0" rtlCol="0" anchor="ctr"/>
          <a:lstStyle/>
          <a:p>
            <a:pPr indent="0" marL="0">
              <a:buNone/>
            </a:pPr>
            <a:r>
              <a:rPr lang="en-US" sz="2800" b="1" dirty="0">
                <a:solidFill>
                  <a:schemeClr val="tx2"/>
                </a:solidFill>
              </a:rPr>
              <a:t>60 Wh</a:t>
            </a:r>
            <a:endParaRPr lang="en-US" sz="2800" dirty="0"/>
          </a:p>
        </p:txBody>
      </p:sp>
      <p:sp>
        <p:nvSpPr>
          <p:cNvPr id="18" name="Text 15"/>
          <p:cNvSpPr txBox="1"/>
          <p:nvPr/>
        </p:nvSpPr>
        <p:spPr>
          <a:xfrm>
            <a:off x="3520440" y="5276088"/>
            <a:ext cx="2331720" cy="512064"/>
          </a:xfrm>
          <a:prstGeom prst="rect">
            <a:avLst/>
          </a:prstGeom>
          <a:noFill/>
          <a:ln/>
        </p:spPr>
        <p:txBody>
          <a:bodyPr wrap="square" lIns="0" tIns="0" rIns="0" bIns="0" rtlCol="0" anchor="t"/>
          <a:lstStyle/>
          <a:p>
            <a:pPr indent="0" marL="0">
              <a:buNone/>
            </a:pPr>
            <a:r>
              <a:rPr lang="en-US" sz="1200" dirty="0">
                <a:solidFill>
                  <a:schemeClr val="accent5"/>
                </a:solidFill>
              </a:rPr>
              <a:t>median per 10 minutes</a:t>
            </a:r>
            <a:endParaRPr lang="en-US" sz="1200" dirty="0"/>
          </a:p>
        </p:txBody>
      </p:sp>
      <p:sp>
        <p:nvSpPr>
          <p:cNvPr id="19" name="Card"/>
          <p:cNvSpPr/>
          <p:nvPr/>
        </p:nvSpPr>
        <p:spPr>
          <a:xfrm>
            <a:off x="6217920" y="4526280"/>
            <a:ext cx="2606040" cy="1280160"/>
          </a:xfrm>
          <a:prstGeom prst="roundRect">
            <a:avLst>
              <a:gd name="adj" fmla="val 7143"/>
            </a:avLst>
          </a:prstGeom>
          <a:solidFill>
            <a:schemeClr val="bg2"/>
          </a:solidFill>
          <a:ln/>
        </p:spPr>
      </p:sp>
      <p:sp>
        <p:nvSpPr>
          <p:cNvPr id="20" name="Text 17"/>
          <p:cNvSpPr txBox="1"/>
          <p:nvPr/>
        </p:nvSpPr>
        <p:spPr>
          <a:xfrm>
            <a:off x="6355080" y="4636008"/>
            <a:ext cx="2331720" cy="640080"/>
          </a:xfrm>
          <a:prstGeom prst="rect">
            <a:avLst/>
          </a:prstGeom>
          <a:noFill/>
          <a:ln/>
        </p:spPr>
        <p:txBody>
          <a:bodyPr wrap="square" lIns="0" tIns="0" rIns="0" bIns="0" rtlCol="0" anchor="ctr"/>
          <a:lstStyle/>
          <a:p>
            <a:pPr indent="0" marL="0">
              <a:buNone/>
            </a:pPr>
            <a:r>
              <a:rPr lang="en-US" sz="2800" b="1" dirty="0">
                <a:solidFill>
                  <a:schemeClr val="tx2"/>
                </a:solidFill>
              </a:rPr>
              <a:t>576.6 Wh</a:t>
            </a:r>
            <a:endParaRPr lang="en-US" sz="2800" dirty="0"/>
          </a:p>
        </p:txBody>
      </p:sp>
      <p:sp>
        <p:nvSpPr>
          <p:cNvPr id="21" name="Text 18"/>
          <p:cNvSpPr txBox="1"/>
          <p:nvPr/>
        </p:nvSpPr>
        <p:spPr>
          <a:xfrm>
            <a:off x="6355080" y="5276088"/>
            <a:ext cx="2331720" cy="512064"/>
          </a:xfrm>
          <a:prstGeom prst="rect">
            <a:avLst/>
          </a:prstGeom>
          <a:noFill/>
          <a:ln/>
        </p:spPr>
        <p:txBody>
          <a:bodyPr wrap="square" lIns="0" tIns="0" rIns="0" bIns="0" rtlCol="0" anchor="t"/>
          <a:lstStyle/>
          <a:p>
            <a:pPr indent="0" marL="0">
              <a:buNone/>
            </a:pPr>
            <a:r>
              <a:rPr lang="en-US" sz="1200" dirty="0">
                <a:solidFill>
                  <a:schemeClr val="accent5"/>
                </a:solidFill>
              </a:rPr>
              <a:t>99th percentile</a:t>
            </a:r>
            <a:endParaRPr lang="en-US" sz="1200" dirty="0"/>
          </a:p>
        </p:txBody>
      </p:sp>
      <p:sp>
        <p:nvSpPr>
          <p:cNvPr id="22" name="Card"/>
          <p:cNvSpPr/>
          <p:nvPr/>
        </p:nvSpPr>
        <p:spPr>
          <a:xfrm>
            <a:off x="9052560" y="4526280"/>
            <a:ext cx="2606040" cy="1280160"/>
          </a:xfrm>
          <a:prstGeom prst="roundRect">
            <a:avLst>
              <a:gd name="adj" fmla="val 7143"/>
            </a:avLst>
          </a:prstGeom>
          <a:solidFill>
            <a:schemeClr val="bg2"/>
          </a:solidFill>
          <a:ln/>
        </p:spPr>
      </p:sp>
      <p:sp>
        <p:nvSpPr>
          <p:cNvPr id="23" name="Text 20"/>
          <p:cNvSpPr txBox="1"/>
          <p:nvPr/>
        </p:nvSpPr>
        <p:spPr>
          <a:xfrm>
            <a:off x="9189720" y="4636008"/>
            <a:ext cx="2331720" cy="640080"/>
          </a:xfrm>
          <a:prstGeom prst="rect">
            <a:avLst/>
          </a:prstGeom>
          <a:noFill/>
          <a:ln/>
        </p:spPr>
        <p:txBody>
          <a:bodyPr wrap="square" lIns="0" tIns="0" rIns="0" bIns="0" rtlCol="0" anchor="ctr"/>
          <a:lstStyle/>
          <a:p>
            <a:pPr indent="0" marL="0">
              <a:buNone/>
            </a:pPr>
            <a:r>
              <a:rPr lang="en-US" sz="2800" b="1" dirty="0">
                <a:solidFill>
                  <a:schemeClr val="tx2"/>
                </a:solidFill>
              </a:rPr>
              <a:t>1,080 Wh</a:t>
            </a:r>
            <a:endParaRPr lang="en-US" sz="2800" dirty="0"/>
          </a:p>
        </p:txBody>
      </p:sp>
      <p:sp>
        <p:nvSpPr>
          <p:cNvPr id="24" name="Text 21"/>
          <p:cNvSpPr txBox="1"/>
          <p:nvPr/>
        </p:nvSpPr>
        <p:spPr>
          <a:xfrm>
            <a:off x="9189720" y="5276088"/>
            <a:ext cx="2331720" cy="512064"/>
          </a:xfrm>
          <a:prstGeom prst="rect">
            <a:avLst/>
          </a:prstGeom>
          <a:noFill/>
          <a:ln/>
        </p:spPr>
        <p:txBody>
          <a:bodyPr wrap="square" lIns="0" tIns="0" rIns="0" bIns="0" rtlCol="0" anchor="t"/>
          <a:lstStyle/>
          <a:p>
            <a:pPr indent="0" marL="0">
              <a:buNone/>
            </a:pPr>
            <a:r>
              <a:rPr lang="en-US" sz="1200" dirty="0">
                <a:solidFill>
                  <a:schemeClr val="accent5"/>
                </a:solidFill>
              </a:rPr>
              <a:t>maximum</a:t>
            </a:r>
            <a:endParaRPr lang="en-US" sz="1200" dirty="0"/>
          </a:p>
        </p:txBody>
      </p:sp>
      <p:sp>
        <p:nvSpPr>
          <p:cNvPr id="25" name="Text 22"/>
          <p:cNvSpPr txBox="1"/>
          <p:nvPr/>
        </p:nvSpPr>
        <p:spPr>
          <a:xfrm>
            <a:off x="548640" y="5943600"/>
            <a:ext cx="8229600" cy="274320"/>
          </a:xfrm>
          <a:prstGeom prst="rect">
            <a:avLst/>
          </a:prstGeom>
          <a:noFill/>
          <a:ln/>
        </p:spPr>
        <p:txBody>
          <a:bodyPr wrap="square" lIns="0" tIns="0" rIns="0" bIns="0" rtlCol="0" anchor="t"/>
          <a:lstStyle/>
          <a:p>
            <a:pPr indent="0" marL="0">
              <a:buNone/>
            </a:pPr>
            <a:r>
              <a:rPr lang="en-US" sz="1100" dirty="0">
                <a:solidFill>
                  <a:schemeClr val="accent5"/>
                </a:solidFill>
              </a:rPr>
              <a:t>Source: notebook section 2.1 (target distribution), saved output.</a:t>
            </a:r>
            <a:endParaRPr lang="en-US" sz="11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400" b="1" dirty="0">
                <a:solidFill>
                  <a:schemeClr val="tx2"/>
                </a:solidFill>
              </a:rPr>
              <a:t>Project Objectives</a:t>
            </a:r>
            <a:endParaRPr lang="en-US" sz="3400" dirty="0"/>
          </a:p>
        </p:txBody>
      </p:sp>
      <p:sp>
        <p:nvSpPr>
          <p:cNvPr id="4" name="Card"/>
          <p:cNvSpPr/>
          <p:nvPr/>
        </p:nvSpPr>
        <p:spPr>
          <a:xfrm>
            <a:off x="548640" y="1280160"/>
            <a:ext cx="5394960" cy="1280160"/>
          </a:xfrm>
          <a:prstGeom prst="roundRect">
            <a:avLst>
              <a:gd name="adj" fmla="val 7143"/>
            </a:avLst>
          </a:prstGeom>
          <a:solidFill>
            <a:schemeClr val="bg2"/>
          </a:solidFill>
          <a:ln/>
        </p:spPr>
      </p:sp>
      <p:sp>
        <p:nvSpPr>
          <p:cNvPr id="5" name="Text 2"/>
          <p:cNvSpPr txBox="1"/>
          <p:nvPr/>
        </p:nvSpPr>
        <p:spPr>
          <a:xfrm>
            <a:off x="731520" y="1417320"/>
            <a:ext cx="5029200" cy="320040"/>
          </a:xfrm>
          <a:prstGeom prst="rect">
            <a:avLst/>
          </a:prstGeom>
          <a:noFill/>
          <a:ln/>
        </p:spPr>
        <p:txBody>
          <a:bodyPr wrap="square" lIns="0" tIns="0" rIns="0" bIns="0" rtlCol="0" anchor="t"/>
          <a:lstStyle/>
          <a:p>
            <a:pPr indent="0" marL="0">
              <a:buNone/>
            </a:pPr>
            <a:r>
              <a:rPr lang="en-US" sz="1700" b="1" dirty="0">
                <a:solidFill>
                  <a:schemeClr val="accent1"/>
                </a:solidFill>
              </a:rPr>
              <a:t>Predict reliably</a:t>
            </a:r>
            <a:endParaRPr lang="en-US" sz="1700" dirty="0"/>
          </a:p>
        </p:txBody>
      </p:sp>
      <p:sp>
        <p:nvSpPr>
          <p:cNvPr id="6" name="Text 3"/>
          <p:cNvSpPr txBox="1"/>
          <p:nvPr/>
        </p:nvSpPr>
        <p:spPr>
          <a:xfrm>
            <a:off x="731520" y="1783080"/>
            <a:ext cx="5029200" cy="685800"/>
          </a:xfrm>
          <a:prstGeom prst="rect">
            <a:avLst/>
          </a:prstGeom>
          <a:noFill/>
          <a:ln/>
        </p:spPr>
        <p:txBody>
          <a:bodyPr wrap="square" lIns="0" tIns="0" rIns="0" bIns="0" rtlCol="0" anchor="t"/>
          <a:lstStyle/>
          <a:p>
            <a:pPr indent="0" marL="0">
              <a:buNone/>
            </a:pPr>
            <a:r>
              <a:rPr lang="en-US" sz="1400" dirty="0">
                <a:solidFill>
                  <a:schemeClr val="tx1"/>
                </a:solidFill>
              </a:rPr>
              <a:t>Chronological train/test split, compared against mean and hour-of-day baselines.</a:t>
            </a:r>
            <a:endParaRPr lang="en-US" sz="1400" dirty="0"/>
          </a:p>
        </p:txBody>
      </p:sp>
      <p:sp>
        <p:nvSpPr>
          <p:cNvPr id="7" name="Card"/>
          <p:cNvSpPr/>
          <p:nvPr/>
        </p:nvSpPr>
        <p:spPr>
          <a:xfrm>
            <a:off x="6217920" y="1280160"/>
            <a:ext cx="5394960" cy="1280160"/>
          </a:xfrm>
          <a:prstGeom prst="roundRect">
            <a:avLst>
              <a:gd name="adj" fmla="val 7143"/>
            </a:avLst>
          </a:prstGeom>
          <a:solidFill>
            <a:schemeClr val="bg2"/>
          </a:solidFill>
          <a:ln/>
        </p:spPr>
      </p:sp>
      <p:sp>
        <p:nvSpPr>
          <p:cNvPr id="8" name="Text 5"/>
          <p:cNvSpPr txBox="1"/>
          <p:nvPr/>
        </p:nvSpPr>
        <p:spPr>
          <a:xfrm>
            <a:off x="6400800" y="1417320"/>
            <a:ext cx="5029200" cy="320040"/>
          </a:xfrm>
          <a:prstGeom prst="rect">
            <a:avLst/>
          </a:prstGeom>
          <a:noFill/>
          <a:ln/>
        </p:spPr>
        <p:txBody>
          <a:bodyPr wrap="square" lIns="0" tIns="0" rIns="0" bIns="0" rtlCol="0" anchor="t"/>
          <a:lstStyle/>
          <a:p>
            <a:pPr indent="0" marL="0">
              <a:buNone/>
            </a:pPr>
            <a:r>
              <a:rPr lang="en-US" sz="1700" b="1" dirty="0">
                <a:solidFill>
                  <a:schemeClr val="accent1"/>
                </a:solidFill>
              </a:rPr>
              <a:t>Understand the drivers</a:t>
            </a:r>
            <a:endParaRPr lang="en-US" sz="1700" dirty="0"/>
          </a:p>
        </p:txBody>
      </p:sp>
      <p:sp>
        <p:nvSpPr>
          <p:cNvPr id="9" name="Text 6"/>
          <p:cNvSpPr txBox="1"/>
          <p:nvPr/>
        </p:nvSpPr>
        <p:spPr>
          <a:xfrm>
            <a:off x="6400800" y="1783080"/>
            <a:ext cx="5029200" cy="685800"/>
          </a:xfrm>
          <a:prstGeom prst="rect">
            <a:avLst/>
          </a:prstGeom>
          <a:noFill/>
          <a:ln/>
        </p:spPr>
        <p:txBody>
          <a:bodyPr wrap="square" lIns="0" tIns="0" rIns="0" bIns="0" rtlCol="0" anchor="t"/>
          <a:lstStyle/>
          <a:p>
            <a:pPr indent="0" marL="0">
              <a:buNone/>
            </a:pPr>
            <a:r>
              <a:rPr lang="en-US" sz="1400" dirty="0">
                <a:solidFill>
                  <a:schemeClr val="tx1"/>
                </a:solidFill>
              </a:rPr>
              <a:t>PCA, permutation importance and SHAP show what the models rely on.</a:t>
            </a:r>
            <a:endParaRPr lang="en-US" sz="1400" dirty="0"/>
          </a:p>
        </p:txBody>
      </p:sp>
      <p:sp>
        <p:nvSpPr>
          <p:cNvPr id="10" name="Card"/>
          <p:cNvSpPr/>
          <p:nvPr/>
        </p:nvSpPr>
        <p:spPr>
          <a:xfrm>
            <a:off x="548640" y="2697480"/>
            <a:ext cx="5394960" cy="1280160"/>
          </a:xfrm>
          <a:prstGeom prst="roundRect">
            <a:avLst>
              <a:gd name="adj" fmla="val 7143"/>
            </a:avLst>
          </a:prstGeom>
          <a:solidFill>
            <a:schemeClr val="bg2"/>
          </a:solidFill>
          <a:ln/>
        </p:spPr>
      </p:sp>
      <p:sp>
        <p:nvSpPr>
          <p:cNvPr id="11" name="Text 8"/>
          <p:cNvSpPr txBox="1"/>
          <p:nvPr/>
        </p:nvSpPr>
        <p:spPr>
          <a:xfrm>
            <a:off x="731520" y="2834640"/>
            <a:ext cx="5029200" cy="320040"/>
          </a:xfrm>
          <a:prstGeom prst="rect">
            <a:avLst/>
          </a:prstGeom>
          <a:noFill/>
          <a:ln/>
        </p:spPr>
        <p:txBody>
          <a:bodyPr wrap="square" lIns="0" tIns="0" rIns="0" bIns="0" rtlCol="0" anchor="t"/>
          <a:lstStyle/>
          <a:p>
            <a:pPr indent="0" marL="0">
              <a:buNone/>
            </a:pPr>
            <a:r>
              <a:rPr lang="en-US" sz="1700" b="1" dirty="0">
                <a:solidFill>
                  <a:schemeClr val="accent1"/>
                </a:solidFill>
              </a:rPr>
              <a:t>Flag unusual readings</a:t>
            </a:r>
            <a:endParaRPr lang="en-US" sz="1700" dirty="0"/>
          </a:p>
        </p:txBody>
      </p:sp>
      <p:sp>
        <p:nvSpPr>
          <p:cNvPr id="12" name="Text 9"/>
          <p:cNvSpPr txBox="1"/>
          <p:nvPr/>
        </p:nvSpPr>
        <p:spPr>
          <a:xfrm>
            <a:off x="731520" y="3200400"/>
            <a:ext cx="5029200" cy="685800"/>
          </a:xfrm>
          <a:prstGeom prst="rect">
            <a:avLst/>
          </a:prstGeom>
          <a:noFill/>
          <a:ln/>
        </p:spPr>
        <p:txBody>
          <a:bodyPr wrap="square" lIns="0" tIns="0" rIns="0" bIns="0" rtlCol="0" anchor="t"/>
          <a:lstStyle/>
          <a:p>
            <a:pPr indent="0" marL="0">
              <a:buNone/>
            </a:pPr>
            <a:r>
              <a:rPr lang="en-US" sz="1400" dirty="0">
                <a:solidFill>
                  <a:schemeClr val="tx1"/>
                </a:solidFill>
              </a:rPr>
              <a:t>Anomalies are prompts for investigation, not proof of energy waste.</a:t>
            </a:r>
            <a:endParaRPr lang="en-US" sz="1400" dirty="0"/>
          </a:p>
        </p:txBody>
      </p:sp>
      <p:sp>
        <p:nvSpPr>
          <p:cNvPr id="13" name="Card"/>
          <p:cNvSpPr/>
          <p:nvPr/>
        </p:nvSpPr>
        <p:spPr>
          <a:xfrm>
            <a:off x="6217920" y="2697480"/>
            <a:ext cx="5394960" cy="1280160"/>
          </a:xfrm>
          <a:prstGeom prst="roundRect">
            <a:avLst>
              <a:gd name="adj" fmla="val 7143"/>
            </a:avLst>
          </a:prstGeom>
          <a:solidFill>
            <a:schemeClr val="bg2"/>
          </a:solidFill>
          <a:ln/>
        </p:spPr>
      </p:sp>
      <p:sp>
        <p:nvSpPr>
          <p:cNvPr id="14" name="Text 11"/>
          <p:cNvSpPr txBox="1"/>
          <p:nvPr/>
        </p:nvSpPr>
        <p:spPr>
          <a:xfrm>
            <a:off x="6400800" y="2834640"/>
            <a:ext cx="5029200" cy="320040"/>
          </a:xfrm>
          <a:prstGeom prst="rect">
            <a:avLst/>
          </a:prstGeom>
          <a:noFill/>
          <a:ln/>
        </p:spPr>
        <p:txBody>
          <a:bodyPr wrap="square" lIns="0" tIns="0" rIns="0" bIns="0" rtlCol="0" anchor="t"/>
          <a:lstStyle/>
          <a:p>
            <a:pPr indent="0" marL="0">
              <a:buNone/>
            </a:pPr>
            <a:r>
              <a:rPr lang="en-US" sz="1700" b="1" dirty="0">
                <a:solidFill>
                  <a:schemeClr val="accent1"/>
                </a:solidFill>
              </a:rPr>
              <a:t>Two prediction tasks</a:t>
            </a:r>
            <a:endParaRPr lang="en-US" sz="1700" dirty="0"/>
          </a:p>
        </p:txBody>
      </p:sp>
      <p:sp>
        <p:nvSpPr>
          <p:cNvPr id="15" name="Text 12"/>
          <p:cNvSpPr txBox="1"/>
          <p:nvPr/>
        </p:nvSpPr>
        <p:spPr>
          <a:xfrm>
            <a:off x="6400800" y="3200400"/>
            <a:ext cx="5029200" cy="685800"/>
          </a:xfrm>
          <a:prstGeom prst="rect">
            <a:avLst/>
          </a:prstGeom>
          <a:noFill/>
          <a:ln/>
        </p:spPr>
        <p:txBody>
          <a:bodyPr wrap="square" lIns="0" tIns="0" rIns="0" bIns="0" rtlCol="0" anchor="t"/>
          <a:lstStyle/>
          <a:p>
            <a:pPr indent="0" marL="0">
              <a:buNone/>
            </a:pPr>
            <a:r>
              <a:rPr lang="en-US" sz="1400" dirty="0">
                <a:solidFill>
                  <a:schemeClr val="tx1"/>
                </a:solidFill>
              </a:rPr>
              <a:t>Track A: time and environment only. Track B: adds recent consumption (10-minute-ahead forecast).</a:t>
            </a:r>
            <a:endParaRPr lang="en-US" sz="1400" dirty="0"/>
          </a:p>
        </p:txBody>
      </p:sp>
      <p:sp>
        <p:nvSpPr>
          <p:cNvPr id="16" name="Text 13"/>
          <p:cNvSpPr txBox="1"/>
          <p:nvPr/>
        </p:nvSpPr>
        <p:spPr>
          <a:xfrm>
            <a:off x="548640" y="4206240"/>
            <a:ext cx="3657600" cy="365760"/>
          </a:xfrm>
          <a:prstGeom prst="rect">
            <a:avLst/>
          </a:prstGeom>
          <a:noFill/>
          <a:ln/>
        </p:spPr>
        <p:txBody>
          <a:bodyPr wrap="square" lIns="0" tIns="0" rIns="0" bIns="0" rtlCol="0" anchor="t"/>
          <a:lstStyle/>
          <a:p>
            <a:pPr indent="0" marL="0">
              <a:buNone/>
            </a:pPr>
            <a:r>
              <a:rPr lang="en-US" sz="1800" b="1" dirty="0">
                <a:solidFill>
                  <a:schemeClr val="tx2"/>
                </a:solidFill>
              </a:rPr>
              <a:t>Workflow</a:t>
            </a:r>
            <a:endParaRPr lang="en-US" sz="1800" dirty="0"/>
          </a:p>
        </p:txBody>
      </p:sp>
      <p:sp>
        <p:nvSpPr>
          <p:cNvPr id="17" name="Card"/>
          <p:cNvSpPr/>
          <p:nvPr/>
        </p:nvSpPr>
        <p:spPr>
          <a:xfrm>
            <a:off x="548640" y="4663440"/>
            <a:ext cx="1508760" cy="1463040"/>
          </a:xfrm>
          <a:prstGeom prst="roundRect">
            <a:avLst>
              <a:gd name="adj" fmla="val 6250"/>
            </a:avLst>
          </a:prstGeom>
          <a:solidFill>
            <a:schemeClr val="bg2"/>
          </a:solidFill>
          <a:ln/>
        </p:spPr>
      </p:sp>
      <p:sp>
        <p:nvSpPr>
          <p:cNvPr id="18" name="Text 15"/>
          <p:cNvSpPr txBox="1"/>
          <p:nvPr/>
        </p:nvSpPr>
        <p:spPr>
          <a:xfrm>
            <a:off x="640080" y="4754880"/>
            <a:ext cx="1325880" cy="457200"/>
          </a:xfrm>
          <a:prstGeom prst="rect">
            <a:avLst/>
          </a:prstGeom>
          <a:noFill/>
          <a:ln/>
        </p:spPr>
        <p:txBody>
          <a:bodyPr wrap="square" lIns="0" tIns="0" rIns="0" bIns="0" rtlCol="0" anchor="t"/>
          <a:lstStyle/>
          <a:p>
            <a:pPr algn="ctr" indent="0" marL="0">
              <a:buNone/>
            </a:pPr>
            <a:r>
              <a:rPr lang="en-US" sz="1400" b="1" dirty="0">
                <a:solidFill>
                  <a:schemeClr val="tx2"/>
                </a:solidFill>
              </a:rPr>
              <a:t>Data</a:t>
            </a:r>
            <a:endParaRPr lang="en-US" sz="1400" dirty="0"/>
          </a:p>
        </p:txBody>
      </p:sp>
      <p:sp>
        <p:nvSpPr>
          <p:cNvPr id="19" name="Text 16"/>
          <p:cNvSpPr txBox="1"/>
          <p:nvPr/>
        </p:nvSpPr>
        <p:spPr>
          <a:xfrm>
            <a:off x="640080" y="5257800"/>
            <a:ext cx="1325880" cy="822960"/>
          </a:xfrm>
          <a:prstGeom prst="rect">
            <a:avLst/>
          </a:prstGeom>
          <a:noFill/>
          <a:ln/>
        </p:spPr>
        <p:txBody>
          <a:bodyPr wrap="square" lIns="0" tIns="0" rIns="0" bIns="0" rtlCol="0" anchor="t"/>
          <a:lstStyle/>
          <a:p>
            <a:pPr algn="ctr" indent="0" marL="0">
              <a:buNone/>
            </a:pPr>
            <a:r>
              <a:rPr lang="en-US" sz="1200" dirty="0">
                <a:solidFill>
                  <a:schemeClr val="tx1"/>
                </a:solidFill>
              </a:rPr>
              <a:t>19,735 readings</a:t>
            </a:r>
            <a:endParaRPr lang="en-US" sz="1200" dirty="0"/>
          </a:p>
        </p:txBody>
      </p:sp>
      <p:sp>
        <p:nvSpPr>
          <p:cNvPr id="20" name="Text 17"/>
          <p:cNvSpPr txBox="1"/>
          <p:nvPr/>
        </p:nvSpPr>
        <p:spPr>
          <a:xfrm>
            <a:off x="2057400" y="5120640"/>
            <a:ext cx="384048" cy="457200"/>
          </a:xfrm>
          <a:prstGeom prst="rect">
            <a:avLst/>
          </a:prstGeom>
          <a:noFill/>
          <a:ln/>
        </p:spPr>
        <p:txBody>
          <a:bodyPr wrap="square" lIns="0" tIns="0" rIns="0" bIns="0" rtlCol="0" anchor="t"/>
          <a:lstStyle/>
          <a:p>
            <a:pPr algn="ctr" indent="0" marL="0">
              <a:buNone/>
            </a:pPr>
            <a:r>
              <a:rPr lang="en-US" sz="2200" b="1" dirty="0">
                <a:solidFill>
                  <a:schemeClr val="accent2"/>
                </a:solidFill>
              </a:rPr>
              <a:t>→</a:t>
            </a:r>
            <a:endParaRPr lang="en-US" sz="2200" dirty="0"/>
          </a:p>
        </p:txBody>
      </p:sp>
      <p:sp>
        <p:nvSpPr>
          <p:cNvPr id="21" name="Card"/>
          <p:cNvSpPr/>
          <p:nvPr/>
        </p:nvSpPr>
        <p:spPr>
          <a:xfrm>
            <a:off x="2441448" y="4663440"/>
            <a:ext cx="1508760" cy="1463040"/>
          </a:xfrm>
          <a:prstGeom prst="roundRect">
            <a:avLst>
              <a:gd name="adj" fmla="val 6250"/>
            </a:avLst>
          </a:prstGeom>
          <a:solidFill>
            <a:srgbClr val="D8E9E6"/>
          </a:solidFill>
          <a:ln/>
        </p:spPr>
      </p:sp>
      <p:sp>
        <p:nvSpPr>
          <p:cNvPr id="22" name="Text 19"/>
          <p:cNvSpPr txBox="1"/>
          <p:nvPr/>
        </p:nvSpPr>
        <p:spPr>
          <a:xfrm>
            <a:off x="2532888" y="4754880"/>
            <a:ext cx="1325880" cy="457200"/>
          </a:xfrm>
          <a:prstGeom prst="rect">
            <a:avLst/>
          </a:prstGeom>
          <a:noFill/>
          <a:ln/>
        </p:spPr>
        <p:txBody>
          <a:bodyPr wrap="square" lIns="0" tIns="0" rIns="0" bIns="0" rtlCol="0" anchor="t"/>
          <a:lstStyle/>
          <a:p>
            <a:pPr algn="ctr" indent="0" marL="0">
              <a:buNone/>
            </a:pPr>
            <a:r>
              <a:rPr lang="en-US" sz="1400" b="1" dirty="0">
                <a:solidFill>
                  <a:schemeClr val="tx2"/>
                </a:solidFill>
              </a:rPr>
              <a:t>Preprocessing</a:t>
            </a:r>
            <a:endParaRPr lang="en-US" sz="1400" dirty="0"/>
          </a:p>
        </p:txBody>
      </p:sp>
      <p:sp>
        <p:nvSpPr>
          <p:cNvPr id="23" name="Text 20"/>
          <p:cNvSpPr txBox="1"/>
          <p:nvPr/>
        </p:nvSpPr>
        <p:spPr>
          <a:xfrm>
            <a:off x="2532888" y="5257800"/>
            <a:ext cx="1325880" cy="822960"/>
          </a:xfrm>
          <a:prstGeom prst="rect">
            <a:avLst/>
          </a:prstGeom>
          <a:noFill/>
          <a:ln/>
        </p:spPr>
        <p:txBody>
          <a:bodyPr wrap="square" lIns="0" tIns="0" rIns="0" bIns="0" rtlCol="0" anchor="t"/>
          <a:lstStyle/>
          <a:p>
            <a:pPr algn="ctr" indent="0" marL="0">
              <a:buNone/>
            </a:pPr>
            <a:r>
              <a:rPr lang="en-US" sz="1200" dirty="0">
                <a:solidFill>
                  <a:schemeClr val="tx1"/>
                </a:solidFill>
              </a:rPr>
              <a:t>chronological split</a:t>
            </a:r>
            <a:endParaRPr lang="en-US" sz="1200" dirty="0"/>
          </a:p>
        </p:txBody>
      </p:sp>
      <p:sp>
        <p:nvSpPr>
          <p:cNvPr id="24" name="Text 21"/>
          <p:cNvSpPr txBox="1"/>
          <p:nvPr/>
        </p:nvSpPr>
        <p:spPr>
          <a:xfrm>
            <a:off x="3950208" y="5120640"/>
            <a:ext cx="384048" cy="457200"/>
          </a:xfrm>
          <a:prstGeom prst="rect">
            <a:avLst/>
          </a:prstGeom>
          <a:noFill/>
          <a:ln/>
        </p:spPr>
        <p:txBody>
          <a:bodyPr wrap="square" lIns="0" tIns="0" rIns="0" bIns="0" rtlCol="0" anchor="t"/>
          <a:lstStyle/>
          <a:p>
            <a:pPr algn="ctr" indent="0" marL="0">
              <a:buNone/>
            </a:pPr>
            <a:r>
              <a:rPr lang="en-US" sz="2200" b="1" dirty="0">
                <a:solidFill>
                  <a:schemeClr val="accent2"/>
                </a:solidFill>
              </a:rPr>
              <a:t>→</a:t>
            </a:r>
            <a:endParaRPr lang="en-US" sz="2200" dirty="0"/>
          </a:p>
        </p:txBody>
      </p:sp>
      <p:sp>
        <p:nvSpPr>
          <p:cNvPr id="25" name="Card"/>
          <p:cNvSpPr/>
          <p:nvPr/>
        </p:nvSpPr>
        <p:spPr>
          <a:xfrm>
            <a:off x="4334256" y="4663440"/>
            <a:ext cx="1508760" cy="1463040"/>
          </a:xfrm>
          <a:prstGeom prst="roundRect">
            <a:avLst>
              <a:gd name="adj" fmla="val 6250"/>
            </a:avLst>
          </a:prstGeom>
          <a:solidFill>
            <a:schemeClr val="bg2"/>
          </a:solidFill>
          <a:ln/>
        </p:spPr>
      </p:sp>
      <p:sp>
        <p:nvSpPr>
          <p:cNvPr id="26" name="Text 23"/>
          <p:cNvSpPr txBox="1"/>
          <p:nvPr/>
        </p:nvSpPr>
        <p:spPr>
          <a:xfrm>
            <a:off x="4425696" y="4754880"/>
            <a:ext cx="1325880" cy="457200"/>
          </a:xfrm>
          <a:prstGeom prst="rect">
            <a:avLst/>
          </a:prstGeom>
          <a:noFill/>
          <a:ln/>
        </p:spPr>
        <p:txBody>
          <a:bodyPr wrap="square" lIns="0" tIns="0" rIns="0" bIns="0" rtlCol="0" anchor="t"/>
          <a:lstStyle/>
          <a:p>
            <a:pPr algn="ctr" indent="0" marL="0">
              <a:buNone/>
            </a:pPr>
            <a:r>
              <a:rPr lang="en-US" sz="1400" b="1" dirty="0">
                <a:solidFill>
                  <a:schemeClr val="tx2"/>
                </a:solidFill>
              </a:rPr>
              <a:t>Feature engineering</a:t>
            </a:r>
            <a:endParaRPr lang="en-US" sz="1400" dirty="0"/>
          </a:p>
        </p:txBody>
      </p:sp>
      <p:sp>
        <p:nvSpPr>
          <p:cNvPr id="27" name="Text 24"/>
          <p:cNvSpPr txBox="1"/>
          <p:nvPr/>
        </p:nvSpPr>
        <p:spPr>
          <a:xfrm>
            <a:off x="4425696" y="5257800"/>
            <a:ext cx="1325880" cy="822960"/>
          </a:xfrm>
          <a:prstGeom prst="rect">
            <a:avLst/>
          </a:prstGeom>
          <a:noFill/>
          <a:ln/>
        </p:spPr>
        <p:txBody>
          <a:bodyPr wrap="square" lIns="0" tIns="0" rIns="0" bIns="0" rtlCol="0" anchor="t"/>
          <a:lstStyle/>
          <a:p>
            <a:pPr algn="ctr" indent="0" marL="0">
              <a:buNone/>
            </a:pPr>
            <a:r>
              <a:rPr lang="en-US" sz="1200" dirty="0">
                <a:solidFill>
                  <a:schemeClr val="tx1"/>
                </a:solidFill>
              </a:rPr>
              <a:t>34 candidates, 16 kept</a:t>
            </a:r>
            <a:endParaRPr lang="en-US" sz="1200" dirty="0"/>
          </a:p>
        </p:txBody>
      </p:sp>
      <p:sp>
        <p:nvSpPr>
          <p:cNvPr id="28" name="Text 25"/>
          <p:cNvSpPr txBox="1"/>
          <p:nvPr/>
        </p:nvSpPr>
        <p:spPr>
          <a:xfrm>
            <a:off x="5843016" y="5120640"/>
            <a:ext cx="384048" cy="457200"/>
          </a:xfrm>
          <a:prstGeom prst="rect">
            <a:avLst/>
          </a:prstGeom>
          <a:noFill/>
          <a:ln/>
        </p:spPr>
        <p:txBody>
          <a:bodyPr wrap="square" lIns="0" tIns="0" rIns="0" bIns="0" rtlCol="0" anchor="t"/>
          <a:lstStyle/>
          <a:p>
            <a:pPr algn="ctr" indent="0" marL="0">
              <a:buNone/>
            </a:pPr>
            <a:r>
              <a:rPr lang="en-US" sz="2200" b="1" dirty="0">
                <a:solidFill>
                  <a:schemeClr val="accent2"/>
                </a:solidFill>
              </a:rPr>
              <a:t>→</a:t>
            </a:r>
            <a:endParaRPr lang="en-US" sz="2200" dirty="0"/>
          </a:p>
        </p:txBody>
      </p:sp>
      <p:sp>
        <p:nvSpPr>
          <p:cNvPr id="29" name="Card"/>
          <p:cNvSpPr/>
          <p:nvPr/>
        </p:nvSpPr>
        <p:spPr>
          <a:xfrm>
            <a:off x="6227064" y="4663440"/>
            <a:ext cx="1508760" cy="1463040"/>
          </a:xfrm>
          <a:prstGeom prst="roundRect">
            <a:avLst>
              <a:gd name="adj" fmla="val 6250"/>
            </a:avLst>
          </a:prstGeom>
          <a:solidFill>
            <a:srgbClr val="D8E9E6"/>
          </a:solidFill>
          <a:ln/>
        </p:spPr>
      </p:sp>
      <p:sp>
        <p:nvSpPr>
          <p:cNvPr id="30" name="Text 27"/>
          <p:cNvSpPr txBox="1"/>
          <p:nvPr/>
        </p:nvSpPr>
        <p:spPr>
          <a:xfrm>
            <a:off x="6318504" y="4754880"/>
            <a:ext cx="1325880" cy="457200"/>
          </a:xfrm>
          <a:prstGeom prst="rect">
            <a:avLst/>
          </a:prstGeom>
          <a:noFill/>
          <a:ln/>
        </p:spPr>
        <p:txBody>
          <a:bodyPr wrap="square" lIns="0" tIns="0" rIns="0" bIns="0" rtlCol="0" anchor="t"/>
          <a:lstStyle/>
          <a:p>
            <a:pPr algn="ctr" indent="0" marL="0">
              <a:buNone/>
            </a:pPr>
            <a:r>
              <a:rPr lang="en-US" sz="1400" b="1" dirty="0">
                <a:solidFill>
                  <a:schemeClr val="tx2"/>
                </a:solidFill>
              </a:rPr>
              <a:t>Modelling</a:t>
            </a:r>
            <a:endParaRPr lang="en-US" sz="1400" dirty="0"/>
          </a:p>
        </p:txBody>
      </p:sp>
      <p:sp>
        <p:nvSpPr>
          <p:cNvPr id="31" name="Text 28"/>
          <p:cNvSpPr txBox="1"/>
          <p:nvPr/>
        </p:nvSpPr>
        <p:spPr>
          <a:xfrm>
            <a:off x="6318504" y="5257800"/>
            <a:ext cx="1325880" cy="822960"/>
          </a:xfrm>
          <a:prstGeom prst="rect">
            <a:avLst/>
          </a:prstGeom>
          <a:noFill/>
          <a:ln/>
        </p:spPr>
        <p:txBody>
          <a:bodyPr wrap="square" lIns="0" tIns="0" rIns="0" bIns="0" rtlCol="0" anchor="t"/>
          <a:lstStyle/>
          <a:p>
            <a:pPr algn="ctr" indent="0" marL="0">
              <a:buNone/>
            </a:pPr>
            <a:r>
              <a:rPr lang="en-US" sz="1200" dirty="0">
                <a:solidFill>
                  <a:schemeClr val="tx1"/>
                </a:solidFill>
              </a:rPr>
              <a:t>baselines, Ridge, RF, LightGBM, AutoML</a:t>
            </a:r>
            <a:endParaRPr lang="en-US" sz="1200" dirty="0"/>
          </a:p>
        </p:txBody>
      </p:sp>
      <p:sp>
        <p:nvSpPr>
          <p:cNvPr id="32" name="Text 29"/>
          <p:cNvSpPr txBox="1"/>
          <p:nvPr/>
        </p:nvSpPr>
        <p:spPr>
          <a:xfrm>
            <a:off x="7735824" y="5120640"/>
            <a:ext cx="384048" cy="457200"/>
          </a:xfrm>
          <a:prstGeom prst="rect">
            <a:avLst/>
          </a:prstGeom>
          <a:noFill/>
          <a:ln/>
        </p:spPr>
        <p:txBody>
          <a:bodyPr wrap="square" lIns="0" tIns="0" rIns="0" bIns="0" rtlCol="0" anchor="t"/>
          <a:lstStyle/>
          <a:p>
            <a:pPr algn="ctr" indent="0" marL="0">
              <a:buNone/>
            </a:pPr>
            <a:r>
              <a:rPr lang="en-US" sz="2200" b="1" dirty="0">
                <a:solidFill>
                  <a:schemeClr val="accent2"/>
                </a:solidFill>
              </a:rPr>
              <a:t>→</a:t>
            </a:r>
            <a:endParaRPr lang="en-US" sz="2200" dirty="0"/>
          </a:p>
        </p:txBody>
      </p:sp>
      <p:sp>
        <p:nvSpPr>
          <p:cNvPr id="33" name="Card"/>
          <p:cNvSpPr/>
          <p:nvPr/>
        </p:nvSpPr>
        <p:spPr>
          <a:xfrm>
            <a:off x="8119872" y="4663440"/>
            <a:ext cx="1508760" cy="1463040"/>
          </a:xfrm>
          <a:prstGeom prst="roundRect">
            <a:avLst>
              <a:gd name="adj" fmla="val 6250"/>
            </a:avLst>
          </a:prstGeom>
          <a:solidFill>
            <a:schemeClr val="bg2"/>
          </a:solidFill>
          <a:ln/>
        </p:spPr>
      </p:sp>
      <p:sp>
        <p:nvSpPr>
          <p:cNvPr id="34" name="Text 31"/>
          <p:cNvSpPr txBox="1"/>
          <p:nvPr/>
        </p:nvSpPr>
        <p:spPr>
          <a:xfrm>
            <a:off x="8211312" y="4754880"/>
            <a:ext cx="1325880" cy="457200"/>
          </a:xfrm>
          <a:prstGeom prst="rect">
            <a:avLst/>
          </a:prstGeom>
          <a:noFill/>
          <a:ln/>
        </p:spPr>
        <p:txBody>
          <a:bodyPr wrap="square" lIns="0" tIns="0" rIns="0" bIns="0" rtlCol="0" anchor="t"/>
          <a:lstStyle/>
          <a:p>
            <a:pPr algn="ctr" indent="0" marL="0">
              <a:buNone/>
            </a:pPr>
            <a:r>
              <a:rPr lang="en-US" sz="1400" b="1" dirty="0">
                <a:solidFill>
                  <a:schemeClr val="tx2"/>
                </a:solidFill>
              </a:rPr>
              <a:t>Evaluation</a:t>
            </a:r>
            <a:endParaRPr lang="en-US" sz="1400" dirty="0"/>
          </a:p>
        </p:txBody>
      </p:sp>
      <p:sp>
        <p:nvSpPr>
          <p:cNvPr id="35" name="Text 32"/>
          <p:cNvSpPr txBox="1"/>
          <p:nvPr/>
        </p:nvSpPr>
        <p:spPr>
          <a:xfrm>
            <a:off x="8211312" y="5257800"/>
            <a:ext cx="1325880" cy="822960"/>
          </a:xfrm>
          <a:prstGeom prst="rect">
            <a:avLst/>
          </a:prstGeom>
          <a:noFill/>
          <a:ln/>
        </p:spPr>
        <p:txBody>
          <a:bodyPr wrap="square" lIns="0" tIns="0" rIns="0" bIns="0" rtlCol="0" anchor="t"/>
          <a:lstStyle/>
          <a:p>
            <a:pPr algn="ctr" indent="0" marL="0">
              <a:buNone/>
            </a:pPr>
            <a:r>
              <a:rPr lang="en-US" sz="1200" dirty="0">
                <a:solidFill>
                  <a:schemeClr val="tx1"/>
                </a:solidFill>
              </a:rPr>
              <a:t>RMSE, MAE, R²</a:t>
            </a:r>
            <a:endParaRPr lang="en-US" sz="1200" dirty="0"/>
          </a:p>
        </p:txBody>
      </p:sp>
      <p:sp>
        <p:nvSpPr>
          <p:cNvPr id="36" name="Text 33"/>
          <p:cNvSpPr txBox="1"/>
          <p:nvPr/>
        </p:nvSpPr>
        <p:spPr>
          <a:xfrm>
            <a:off x="9628632" y="5120640"/>
            <a:ext cx="384048" cy="457200"/>
          </a:xfrm>
          <a:prstGeom prst="rect">
            <a:avLst/>
          </a:prstGeom>
          <a:noFill/>
          <a:ln/>
        </p:spPr>
        <p:txBody>
          <a:bodyPr wrap="square" lIns="0" tIns="0" rIns="0" bIns="0" rtlCol="0" anchor="t"/>
          <a:lstStyle/>
          <a:p>
            <a:pPr algn="ctr" indent="0" marL="0">
              <a:buNone/>
            </a:pPr>
            <a:r>
              <a:rPr lang="en-US" sz="2200" b="1" dirty="0">
                <a:solidFill>
                  <a:schemeClr val="accent2"/>
                </a:solidFill>
              </a:rPr>
              <a:t>→</a:t>
            </a:r>
            <a:endParaRPr lang="en-US" sz="2200" dirty="0"/>
          </a:p>
        </p:txBody>
      </p:sp>
      <p:sp>
        <p:nvSpPr>
          <p:cNvPr id="37" name="Card"/>
          <p:cNvSpPr/>
          <p:nvPr/>
        </p:nvSpPr>
        <p:spPr>
          <a:xfrm>
            <a:off x="10012680" y="4663440"/>
            <a:ext cx="1508760" cy="1463040"/>
          </a:xfrm>
          <a:prstGeom prst="roundRect">
            <a:avLst>
              <a:gd name="adj" fmla="val 6250"/>
            </a:avLst>
          </a:prstGeom>
          <a:solidFill>
            <a:srgbClr val="D8E9E6"/>
          </a:solidFill>
          <a:ln/>
        </p:spPr>
      </p:sp>
      <p:sp>
        <p:nvSpPr>
          <p:cNvPr id="38" name="Text 35"/>
          <p:cNvSpPr txBox="1"/>
          <p:nvPr/>
        </p:nvSpPr>
        <p:spPr>
          <a:xfrm>
            <a:off x="10104120" y="4754880"/>
            <a:ext cx="1325880" cy="457200"/>
          </a:xfrm>
          <a:prstGeom prst="rect">
            <a:avLst/>
          </a:prstGeom>
          <a:noFill/>
          <a:ln/>
        </p:spPr>
        <p:txBody>
          <a:bodyPr wrap="square" lIns="0" tIns="0" rIns="0" bIns="0" rtlCol="0" anchor="t"/>
          <a:lstStyle/>
          <a:p>
            <a:pPr algn="ctr" indent="0" marL="0">
              <a:buNone/>
            </a:pPr>
            <a:r>
              <a:rPr lang="en-US" sz="1400" b="1" dirty="0">
                <a:solidFill>
                  <a:schemeClr val="tx2"/>
                </a:solidFill>
              </a:rPr>
              <a:t>Interpretation</a:t>
            </a:r>
            <a:endParaRPr lang="en-US" sz="1400" dirty="0"/>
          </a:p>
        </p:txBody>
      </p:sp>
      <p:sp>
        <p:nvSpPr>
          <p:cNvPr id="39" name="Text 36"/>
          <p:cNvSpPr txBox="1"/>
          <p:nvPr/>
        </p:nvSpPr>
        <p:spPr>
          <a:xfrm>
            <a:off x="10104120" y="5257800"/>
            <a:ext cx="1325880" cy="822960"/>
          </a:xfrm>
          <a:prstGeom prst="rect">
            <a:avLst/>
          </a:prstGeom>
          <a:noFill/>
          <a:ln/>
        </p:spPr>
        <p:txBody>
          <a:bodyPr wrap="square" lIns="0" tIns="0" rIns="0" bIns="0" rtlCol="0" anchor="t"/>
          <a:lstStyle/>
          <a:p>
            <a:pPr algn="ctr" indent="0" marL="0">
              <a:buNone/>
            </a:pPr>
            <a:r>
              <a:rPr lang="en-US" sz="1200" dirty="0">
                <a:solidFill>
                  <a:schemeClr val="tx1"/>
                </a:solidFill>
              </a:rPr>
              <a:t>SHAP, anomaly review</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400" b="1" dirty="0">
                <a:solidFill>
                  <a:schemeClr val="tx2"/>
                </a:solidFill>
              </a:rPr>
              <a:t>Dataset Description</a:t>
            </a:r>
            <a:endParaRPr lang="en-US" sz="3400" dirty="0"/>
          </a:p>
        </p:txBody>
      </p:sp>
      <p:sp>
        <p:nvSpPr>
          <p:cNvPr id="4" name="Card"/>
          <p:cNvSpPr/>
          <p:nvPr/>
        </p:nvSpPr>
        <p:spPr>
          <a:xfrm>
            <a:off x="548640" y="1280160"/>
            <a:ext cx="2606040" cy="1143000"/>
          </a:xfrm>
          <a:prstGeom prst="roundRect">
            <a:avLst>
              <a:gd name="adj" fmla="val 8000"/>
            </a:avLst>
          </a:prstGeom>
          <a:solidFill>
            <a:schemeClr val="bg2"/>
          </a:solidFill>
          <a:ln/>
        </p:spPr>
      </p:sp>
      <p:sp>
        <p:nvSpPr>
          <p:cNvPr id="5" name="Text 2"/>
          <p:cNvSpPr txBox="1"/>
          <p:nvPr/>
        </p:nvSpPr>
        <p:spPr>
          <a:xfrm>
            <a:off x="685800" y="1389888"/>
            <a:ext cx="2331720" cy="571500"/>
          </a:xfrm>
          <a:prstGeom prst="rect">
            <a:avLst/>
          </a:prstGeom>
          <a:noFill/>
          <a:ln/>
        </p:spPr>
        <p:txBody>
          <a:bodyPr wrap="square" lIns="0" tIns="0" rIns="0" bIns="0" rtlCol="0" anchor="ctr"/>
          <a:lstStyle/>
          <a:p>
            <a:pPr indent="0" marL="0">
              <a:buNone/>
            </a:pPr>
            <a:r>
              <a:rPr lang="en-US" sz="2800" b="1" dirty="0">
                <a:solidFill>
                  <a:schemeClr val="tx2"/>
                </a:solidFill>
              </a:rPr>
              <a:t>19,735</a:t>
            </a:r>
            <a:endParaRPr lang="en-US" sz="2800" dirty="0"/>
          </a:p>
        </p:txBody>
      </p:sp>
      <p:sp>
        <p:nvSpPr>
          <p:cNvPr id="6" name="Text 3"/>
          <p:cNvSpPr txBox="1"/>
          <p:nvPr/>
        </p:nvSpPr>
        <p:spPr>
          <a:xfrm>
            <a:off x="685800" y="1961388"/>
            <a:ext cx="2331720" cy="457200"/>
          </a:xfrm>
          <a:prstGeom prst="rect">
            <a:avLst/>
          </a:prstGeom>
          <a:noFill/>
          <a:ln/>
        </p:spPr>
        <p:txBody>
          <a:bodyPr wrap="square" lIns="0" tIns="0" rIns="0" bIns="0" rtlCol="0" anchor="t"/>
          <a:lstStyle/>
          <a:p>
            <a:pPr indent="0" marL="0">
              <a:buNone/>
            </a:pPr>
            <a:r>
              <a:rPr lang="en-US" sz="1200" dirty="0">
                <a:solidFill>
                  <a:schemeClr val="accent5"/>
                </a:solidFill>
              </a:rPr>
              <a:t>readings</a:t>
            </a:r>
            <a:endParaRPr lang="en-US" sz="1200" dirty="0"/>
          </a:p>
        </p:txBody>
      </p:sp>
      <p:sp>
        <p:nvSpPr>
          <p:cNvPr id="7" name="Card"/>
          <p:cNvSpPr/>
          <p:nvPr/>
        </p:nvSpPr>
        <p:spPr>
          <a:xfrm>
            <a:off x="3383280" y="1280160"/>
            <a:ext cx="2606040" cy="1143000"/>
          </a:xfrm>
          <a:prstGeom prst="roundRect">
            <a:avLst>
              <a:gd name="adj" fmla="val 8000"/>
            </a:avLst>
          </a:prstGeom>
          <a:solidFill>
            <a:schemeClr val="bg2"/>
          </a:solidFill>
          <a:ln/>
        </p:spPr>
      </p:sp>
      <p:sp>
        <p:nvSpPr>
          <p:cNvPr id="8" name="Text 5"/>
          <p:cNvSpPr txBox="1"/>
          <p:nvPr/>
        </p:nvSpPr>
        <p:spPr>
          <a:xfrm>
            <a:off x="3520440" y="1389888"/>
            <a:ext cx="2331720" cy="571500"/>
          </a:xfrm>
          <a:prstGeom prst="rect">
            <a:avLst/>
          </a:prstGeom>
          <a:noFill/>
          <a:ln/>
        </p:spPr>
        <p:txBody>
          <a:bodyPr wrap="square" lIns="0" tIns="0" rIns="0" bIns="0" rtlCol="0" anchor="ctr"/>
          <a:lstStyle/>
          <a:p>
            <a:pPr indent="0" marL="0">
              <a:buNone/>
            </a:pPr>
            <a:r>
              <a:rPr lang="en-US" sz="2800" b="1" dirty="0">
                <a:solidFill>
                  <a:schemeClr val="tx2"/>
                </a:solidFill>
              </a:rPr>
              <a:t>29</a:t>
            </a:r>
            <a:endParaRPr lang="en-US" sz="2800" dirty="0"/>
          </a:p>
        </p:txBody>
      </p:sp>
      <p:sp>
        <p:nvSpPr>
          <p:cNvPr id="9" name="Text 6"/>
          <p:cNvSpPr txBox="1"/>
          <p:nvPr/>
        </p:nvSpPr>
        <p:spPr>
          <a:xfrm>
            <a:off x="3520440" y="1961388"/>
            <a:ext cx="2331720" cy="457200"/>
          </a:xfrm>
          <a:prstGeom prst="rect">
            <a:avLst/>
          </a:prstGeom>
          <a:noFill/>
          <a:ln/>
        </p:spPr>
        <p:txBody>
          <a:bodyPr wrap="square" lIns="0" tIns="0" rIns="0" bIns="0" rtlCol="0" anchor="t"/>
          <a:lstStyle/>
          <a:p>
            <a:pPr indent="0" marL="0">
              <a:buNone/>
            </a:pPr>
            <a:r>
              <a:rPr lang="en-US" sz="1200" dirty="0">
                <a:solidFill>
                  <a:schemeClr val="accent5"/>
                </a:solidFill>
              </a:rPr>
              <a:t>columns (25 predictors)</a:t>
            </a:r>
            <a:endParaRPr lang="en-US" sz="1200" dirty="0"/>
          </a:p>
        </p:txBody>
      </p:sp>
      <p:sp>
        <p:nvSpPr>
          <p:cNvPr id="10" name="Card"/>
          <p:cNvSpPr/>
          <p:nvPr/>
        </p:nvSpPr>
        <p:spPr>
          <a:xfrm>
            <a:off x="6217920" y="1280160"/>
            <a:ext cx="2606040" cy="1143000"/>
          </a:xfrm>
          <a:prstGeom prst="roundRect">
            <a:avLst>
              <a:gd name="adj" fmla="val 8000"/>
            </a:avLst>
          </a:prstGeom>
          <a:solidFill>
            <a:schemeClr val="bg2"/>
          </a:solidFill>
          <a:ln/>
        </p:spPr>
      </p:sp>
      <p:sp>
        <p:nvSpPr>
          <p:cNvPr id="11" name="Text 8"/>
          <p:cNvSpPr txBox="1"/>
          <p:nvPr/>
        </p:nvSpPr>
        <p:spPr>
          <a:xfrm>
            <a:off x="6355080" y="1389888"/>
            <a:ext cx="2331720" cy="571500"/>
          </a:xfrm>
          <a:prstGeom prst="rect">
            <a:avLst/>
          </a:prstGeom>
          <a:noFill/>
          <a:ln/>
        </p:spPr>
        <p:txBody>
          <a:bodyPr wrap="square" lIns="0" tIns="0" rIns="0" bIns="0" rtlCol="0" anchor="ctr"/>
          <a:lstStyle/>
          <a:p>
            <a:pPr indent="0" marL="0">
              <a:buNone/>
            </a:pPr>
            <a:r>
              <a:rPr lang="en-US" sz="2800" b="1" dirty="0">
                <a:solidFill>
                  <a:schemeClr val="tx2"/>
                </a:solidFill>
              </a:rPr>
              <a:t>97.69 Wh</a:t>
            </a:r>
            <a:endParaRPr lang="en-US" sz="2800" dirty="0"/>
          </a:p>
        </p:txBody>
      </p:sp>
      <p:sp>
        <p:nvSpPr>
          <p:cNvPr id="12" name="Text 9"/>
          <p:cNvSpPr txBox="1"/>
          <p:nvPr/>
        </p:nvSpPr>
        <p:spPr>
          <a:xfrm>
            <a:off x="6355080" y="1961388"/>
            <a:ext cx="2331720" cy="457200"/>
          </a:xfrm>
          <a:prstGeom prst="rect">
            <a:avLst/>
          </a:prstGeom>
          <a:noFill/>
          <a:ln/>
        </p:spPr>
        <p:txBody>
          <a:bodyPr wrap="square" lIns="0" tIns="0" rIns="0" bIns="0" rtlCol="0" anchor="t"/>
          <a:lstStyle/>
          <a:p>
            <a:pPr indent="0" marL="0">
              <a:buNone/>
            </a:pPr>
            <a:r>
              <a:rPr lang="en-US" sz="1200" dirty="0">
                <a:solidFill>
                  <a:schemeClr val="accent5"/>
                </a:solidFill>
              </a:rPr>
              <a:t>mean Appliances</a:t>
            </a:r>
            <a:endParaRPr lang="en-US" sz="1200" dirty="0"/>
          </a:p>
        </p:txBody>
      </p:sp>
      <p:sp>
        <p:nvSpPr>
          <p:cNvPr id="13" name="Card"/>
          <p:cNvSpPr/>
          <p:nvPr/>
        </p:nvSpPr>
        <p:spPr>
          <a:xfrm>
            <a:off x="9052560" y="1280160"/>
            <a:ext cx="2606040" cy="1143000"/>
          </a:xfrm>
          <a:prstGeom prst="roundRect">
            <a:avLst>
              <a:gd name="adj" fmla="val 8000"/>
            </a:avLst>
          </a:prstGeom>
          <a:solidFill>
            <a:schemeClr val="bg2"/>
          </a:solidFill>
          <a:ln/>
        </p:spPr>
      </p:sp>
      <p:sp>
        <p:nvSpPr>
          <p:cNvPr id="14" name="Text 11"/>
          <p:cNvSpPr txBox="1"/>
          <p:nvPr/>
        </p:nvSpPr>
        <p:spPr>
          <a:xfrm>
            <a:off x="9189720" y="1389888"/>
            <a:ext cx="2331720" cy="571500"/>
          </a:xfrm>
          <a:prstGeom prst="rect">
            <a:avLst/>
          </a:prstGeom>
          <a:noFill/>
          <a:ln/>
        </p:spPr>
        <p:txBody>
          <a:bodyPr wrap="square" lIns="0" tIns="0" rIns="0" bIns="0" rtlCol="0" anchor="ctr"/>
          <a:lstStyle/>
          <a:p>
            <a:pPr indent="0" marL="0">
              <a:buNone/>
            </a:pPr>
            <a:r>
              <a:rPr lang="en-US" sz="2800" b="1" dirty="0">
                <a:solidFill>
                  <a:schemeClr val="tx2"/>
                </a:solidFill>
              </a:rPr>
              <a:t>10 min</a:t>
            </a:r>
            <a:endParaRPr lang="en-US" sz="2800" dirty="0"/>
          </a:p>
        </p:txBody>
      </p:sp>
      <p:sp>
        <p:nvSpPr>
          <p:cNvPr id="15" name="Text 12"/>
          <p:cNvSpPr txBox="1"/>
          <p:nvPr/>
        </p:nvSpPr>
        <p:spPr>
          <a:xfrm>
            <a:off x="9189720" y="1961388"/>
            <a:ext cx="2331720" cy="457200"/>
          </a:xfrm>
          <a:prstGeom prst="rect">
            <a:avLst/>
          </a:prstGeom>
          <a:noFill/>
          <a:ln/>
        </p:spPr>
        <p:txBody>
          <a:bodyPr wrap="square" lIns="0" tIns="0" rIns="0" bIns="0" rtlCol="0" anchor="t"/>
          <a:lstStyle/>
          <a:p>
            <a:pPr indent="0" marL="0">
              <a:buNone/>
            </a:pPr>
            <a:r>
              <a:rPr lang="en-US" sz="1200" dirty="0">
                <a:solidFill>
                  <a:schemeClr val="accent5"/>
                </a:solidFill>
              </a:rPr>
              <a:t>exact time step</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743200"/>
          <a:ext cx="4754880" cy="914400"/>
        </p:xfrm>
        <a:graphic>
          <a:graphicData uri="http://schemas.openxmlformats.org/drawingml/2006/table">
            <a:tbl>
              <a:tblPr/>
              <a:tblGrid>
                <a:gridCol w="2743200"/>
                <a:gridCol w="2011680"/>
              </a:tblGrid>
              <a:tr h="310896">
                <a:tc>
                  <a:txBody>
                    <a:bodyPr/>
                    <a:lstStyle/>
                    <a:p>
                      <a:pPr algn="l" indent="0" marL="0">
                        <a:buNone/>
                      </a:pPr>
                      <a:r>
                        <a:rPr lang="en-US" sz="1200" b="1" dirty="0">
                          <a:solidFill>
                            <a:srgbClr val="FFFFFF"/>
                          </a:solidFill>
                        </a:rPr>
                        <a:t>Appliances (Wh)</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F2A43"/>
                    </a:solidFill>
                  </a:tcPr>
                </a:tc>
                <a:tc>
                  <a:txBody>
                    <a:bodyPr/>
                    <a:lstStyle/>
                    <a:p>
                      <a:pPr algn="l" indent="0" marL="0">
                        <a:buNone/>
                      </a:pPr>
                      <a:r>
                        <a:rPr lang="en-US" sz="1200" b="1" dirty="0">
                          <a:solidFill>
                            <a:srgbClr val="FFFFFF"/>
                          </a:solidFill>
                        </a:rPr>
                        <a:t>Value</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F2A43"/>
                    </a:solidFill>
                  </a:tcPr>
                </a:tc>
              </a:tr>
              <a:tr h="310896">
                <a:tc>
                  <a:txBody>
                    <a:bodyPr/>
                    <a:lstStyle/>
                    <a:p>
                      <a:pPr algn="l" indent="0" marL="0">
                        <a:buNone/>
                      </a:pPr>
                      <a:r>
                        <a:rPr lang="en-US" sz="1200" dirty="0">
                          <a:solidFill>
                            <a:srgbClr val="1B2A38"/>
                          </a:solidFill>
                        </a:rPr>
                        <a:t>Minimum</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B2A38"/>
                          </a:solidFill>
                        </a:rPr>
                        <a:t>10</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r>
              <a:tr h="310896">
                <a:tc>
                  <a:txBody>
                    <a:bodyPr/>
                    <a:lstStyle/>
                    <a:p>
                      <a:pPr algn="l" indent="0" marL="0">
                        <a:buNone/>
                      </a:pPr>
                      <a:r>
                        <a:rPr lang="en-US" sz="1200" dirty="0">
                          <a:solidFill>
                            <a:srgbClr val="1B2A38"/>
                          </a:solidFill>
                        </a:rPr>
                        <a:t>Median</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38"/>
                          </a:solidFill>
                        </a:rPr>
                        <a:t>60</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B2A38"/>
                          </a:solidFill>
                        </a:rPr>
                        <a:t>Mean</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B2A38"/>
                          </a:solidFill>
                        </a:rPr>
                        <a:t>97.69</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r>
              <a:tr h="310896">
                <a:tc>
                  <a:txBody>
                    <a:bodyPr/>
                    <a:lstStyle/>
                    <a:p>
                      <a:pPr algn="l" indent="0" marL="0">
                        <a:buNone/>
                      </a:pPr>
                      <a:r>
                        <a:rPr lang="en-US" sz="1200" dirty="0">
                          <a:solidFill>
                            <a:srgbClr val="1B2A38"/>
                          </a:solidFill>
                        </a:rPr>
                        <a:t>90th percentile</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38"/>
                          </a:solidFill>
                        </a:rPr>
                        <a:t>196</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B2A38"/>
                          </a:solidFill>
                        </a:rPr>
                        <a:t>95th percentile</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B2A38"/>
                          </a:solidFill>
                        </a:rPr>
                        <a:t>330</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r>
              <a:tr h="310896">
                <a:tc>
                  <a:txBody>
                    <a:bodyPr/>
                    <a:lstStyle/>
                    <a:p>
                      <a:pPr algn="l" indent="0" marL="0">
                        <a:buNone/>
                      </a:pPr>
                      <a:r>
                        <a:rPr lang="en-US" sz="1200" dirty="0">
                          <a:solidFill>
                            <a:srgbClr val="1B2A38"/>
                          </a:solidFill>
                        </a:rPr>
                        <a:t>99th percentile</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38"/>
                          </a:solidFill>
                        </a:rPr>
                        <a:t>576.6</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B2A38"/>
                          </a:solidFill>
                        </a:rPr>
                        <a:t>Maximum</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B2A38"/>
                          </a:solidFill>
                        </a:rPr>
                        <a:t>1,080</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r>
              <a:tr h="310896">
                <a:tc>
                  <a:txBody>
                    <a:bodyPr/>
                    <a:lstStyle/>
                    <a:p>
                      <a:pPr algn="l" indent="0" marL="0">
                        <a:buNone/>
                      </a:pPr>
                      <a:r>
                        <a:rPr lang="en-US" sz="1200" dirty="0">
                          <a:solidFill>
                            <a:srgbClr val="1B2A38"/>
                          </a:solidFill>
                        </a:rPr>
                        <a:t>Std deviation</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38"/>
                          </a:solidFill>
                        </a:rPr>
                        <a:t>102.52</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bl>
          </a:graphicData>
        </a:graphic>
      </p:graphicFrame>
      <p:sp>
        <p:nvSpPr>
          <p:cNvPr id="17" name="Text 13"/>
          <p:cNvSpPr txBox="1"/>
          <p:nvPr/>
        </p:nvSpPr>
        <p:spPr>
          <a:xfrm>
            <a:off x="5760720" y="2743200"/>
            <a:ext cx="5852160" cy="31089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Period: 11 Jan 2016 17:00 to 27 May 2016 18:00</a:t>
            </a:r>
            <a:endParaRPr lang="en-US" sz="1400" dirty="0"/>
          </a:p>
          <a:p>
            <a:pPr marL="342900" indent="-342900">
              <a:spcAft>
                <a:spcPts val="600"/>
              </a:spcAft>
              <a:buSzPct val="100000"/>
              <a:buChar char="•"/>
            </a:pPr>
            <a:r>
              <a:rPr lang="en-US" sz="1400" dirty="0">
                <a:solidFill>
                  <a:schemeClr val="tx1"/>
                </a:solidFill>
              </a:rPr>
              <a:t>Target: Appliances, energy use in Wh per 10-minute interval</a:t>
            </a:r>
            <a:endParaRPr lang="en-US" sz="1400" dirty="0"/>
          </a:p>
          <a:p>
            <a:pPr marL="342900" indent="-342900">
              <a:spcAft>
                <a:spcPts val="600"/>
              </a:spcAft>
              <a:buSzPct val="100000"/>
              <a:buChar char="•"/>
            </a:pPr>
            <a:r>
              <a:rPr lang="en-US" sz="1400" dirty="0">
                <a:solidFill>
                  <a:schemeClr val="tx1"/>
                </a:solidFill>
              </a:rPr>
              <a:t>Predictors: lights, indoor T1-T9 and RH_1-RH_9, outdoor T_out, RH_out, Press_mm_hg, Windspeed, Visibility, Tdewpoint</a:t>
            </a:r>
            <a:endParaRPr lang="en-US" sz="1400" dirty="0"/>
          </a:p>
          <a:p>
            <a:pPr marL="342900" indent="-342900">
              <a:spcAft>
                <a:spcPts val="600"/>
              </a:spcAft>
              <a:buSzPct val="100000"/>
              <a:buChar char="•"/>
            </a:pPr>
            <a:r>
              <a:rPr lang="en-US" sz="1400" dirty="0">
                <a:solidFill>
                  <a:schemeClr val="tx1"/>
                </a:solidFill>
              </a:rPr>
              <a:t>rv1 and rv2 are identical random-noise columns and were dropped</a:t>
            </a:r>
            <a:endParaRPr lang="en-US" sz="1400" dirty="0"/>
          </a:p>
          <a:p>
            <a:pPr marL="342900" indent="-342900">
              <a:spcAft>
                <a:spcPts val="600"/>
              </a:spcAft>
              <a:buSzPct val="100000"/>
              <a:buChar char="•"/>
            </a:pPr>
            <a:r>
              <a:rPr lang="en-US" sz="1400" dirty="0">
                <a:solidFill>
                  <a:schemeClr val="tx1"/>
                </a:solidFill>
              </a:rPr>
              <a:t>Strongly right-skewed target with a long tail of spikes</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400" b="1" dirty="0">
                <a:solidFill>
                  <a:schemeClr val="tx2"/>
                </a:solidFill>
              </a:rPr>
              <a:t>Data Preprocessing</a:t>
            </a:r>
            <a:endParaRPr lang="en-US" sz="3400" dirty="0"/>
          </a:p>
        </p:txBody>
      </p:sp>
      <p:sp>
        <p:nvSpPr>
          <p:cNvPr id="4" name="Train bar"/>
          <p:cNvSpPr/>
          <p:nvPr/>
        </p:nvSpPr>
        <p:spPr>
          <a:xfrm>
            <a:off x="548640" y="1417320"/>
            <a:ext cx="8851392" cy="822960"/>
          </a:xfrm>
          <a:prstGeom prst="rect">
            <a:avLst/>
          </a:prstGeom>
          <a:solidFill>
            <a:schemeClr val="accent1"/>
          </a:solidFill>
          <a:ln/>
        </p:spPr>
      </p:sp>
      <p:sp>
        <p:nvSpPr>
          <p:cNvPr id="5" name="Test bar"/>
          <p:cNvSpPr/>
          <p:nvPr/>
        </p:nvSpPr>
        <p:spPr>
          <a:xfrm>
            <a:off x="9400032" y="1417320"/>
            <a:ext cx="2212848" cy="822960"/>
          </a:xfrm>
          <a:prstGeom prst="rect">
            <a:avLst/>
          </a:prstGeom>
          <a:solidFill>
            <a:schemeClr val="accent2"/>
          </a:solidFill>
          <a:ln/>
        </p:spPr>
      </p:sp>
      <p:sp>
        <p:nvSpPr>
          <p:cNvPr id="6" name="Text 3"/>
          <p:cNvSpPr txBox="1"/>
          <p:nvPr/>
        </p:nvSpPr>
        <p:spPr>
          <a:xfrm>
            <a:off x="548640" y="1417320"/>
            <a:ext cx="8851392" cy="822960"/>
          </a:xfrm>
          <a:prstGeom prst="rect">
            <a:avLst/>
          </a:prstGeom>
          <a:noFill/>
          <a:ln/>
        </p:spPr>
        <p:txBody>
          <a:bodyPr wrap="square" lIns="0" tIns="0" rIns="0" bIns="0" rtlCol="0" anchor="ctr"/>
          <a:lstStyle/>
          <a:p>
            <a:pPr algn="ctr" indent="0" marL="0">
              <a:buNone/>
            </a:pPr>
            <a:r>
              <a:rPr lang="en-US" sz="1600" b="1" dirty="0">
                <a:solidFill>
                  <a:schemeClr val="bg1"/>
                </a:solidFill>
              </a:rPr>
              <a:t>Train: 15,788 readings (11 Jan - 30 Apr 2016)</a:t>
            </a:r>
            <a:endParaRPr lang="en-US" sz="1600" dirty="0"/>
          </a:p>
        </p:txBody>
      </p:sp>
      <p:sp>
        <p:nvSpPr>
          <p:cNvPr id="7" name="Text 4"/>
          <p:cNvSpPr txBox="1"/>
          <p:nvPr/>
        </p:nvSpPr>
        <p:spPr>
          <a:xfrm>
            <a:off x="9400032" y="1417320"/>
            <a:ext cx="2212848" cy="822960"/>
          </a:xfrm>
          <a:prstGeom prst="rect">
            <a:avLst/>
          </a:prstGeom>
          <a:noFill/>
          <a:ln/>
        </p:spPr>
        <p:txBody>
          <a:bodyPr wrap="square" lIns="0" tIns="0" rIns="0" bIns="0" rtlCol="0" anchor="ctr"/>
          <a:lstStyle/>
          <a:p>
            <a:pPr algn="ctr" indent="0" marL="0">
              <a:buNone/>
            </a:pPr>
            <a:r>
              <a:rPr lang="en-US" sz="1300" b="1" dirty="0">
                <a:solidFill>
                  <a:schemeClr val="tx2"/>
                </a:solidFill>
              </a:rPr>
              <a:t>Test: 3,947 (30 Apr - 27 May)</a:t>
            </a:r>
            <a:endParaRPr lang="en-US" sz="1300" dirty="0"/>
          </a:p>
        </p:txBody>
      </p:sp>
      <p:sp>
        <p:nvSpPr>
          <p:cNvPr id="8" name="Card"/>
          <p:cNvSpPr/>
          <p:nvPr/>
        </p:nvSpPr>
        <p:spPr>
          <a:xfrm>
            <a:off x="548640" y="2514600"/>
            <a:ext cx="2606040" cy="1371600"/>
          </a:xfrm>
          <a:prstGeom prst="roundRect">
            <a:avLst>
              <a:gd name="adj" fmla="val 6667"/>
            </a:avLst>
          </a:prstGeom>
          <a:solidFill>
            <a:schemeClr val="bg2"/>
          </a:solidFill>
          <a:ln/>
        </p:spPr>
      </p:sp>
      <p:sp>
        <p:nvSpPr>
          <p:cNvPr id="9" name="Text 6"/>
          <p:cNvSpPr txBox="1"/>
          <p:nvPr/>
        </p:nvSpPr>
        <p:spPr>
          <a:xfrm>
            <a:off x="685800" y="2624328"/>
            <a:ext cx="2331720" cy="685800"/>
          </a:xfrm>
          <a:prstGeom prst="rect">
            <a:avLst/>
          </a:prstGeom>
          <a:noFill/>
          <a:ln/>
        </p:spPr>
        <p:txBody>
          <a:bodyPr wrap="square" lIns="0" tIns="0" rIns="0" bIns="0" rtlCol="0" anchor="ctr"/>
          <a:lstStyle/>
          <a:p>
            <a:pPr indent="0" marL="0">
              <a:buNone/>
            </a:pPr>
            <a:r>
              <a:rPr lang="en-US" sz="2800" b="1" dirty="0">
                <a:solidFill>
                  <a:schemeClr val="tx2"/>
                </a:solidFill>
              </a:rPr>
              <a:t>0</a:t>
            </a:r>
            <a:endParaRPr lang="en-US" sz="2800" dirty="0"/>
          </a:p>
        </p:txBody>
      </p:sp>
      <p:sp>
        <p:nvSpPr>
          <p:cNvPr id="10" name="Text 7"/>
          <p:cNvSpPr txBox="1"/>
          <p:nvPr/>
        </p:nvSpPr>
        <p:spPr>
          <a:xfrm>
            <a:off x="685800" y="3310128"/>
            <a:ext cx="2331720" cy="548640"/>
          </a:xfrm>
          <a:prstGeom prst="rect">
            <a:avLst/>
          </a:prstGeom>
          <a:noFill/>
          <a:ln/>
        </p:spPr>
        <p:txBody>
          <a:bodyPr wrap="square" lIns="0" tIns="0" rIns="0" bIns="0" rtlCol="0" anchor="t"/>
          <a:lstStyle/>
          <a:p>
            <a:pPr indent="0" marL="0">
              <a:buNone/>
            </a:pPr>
            <a:r>
              <a:rPr lang="en-US" sz="1200" dirty="0">
                <a:solidFill>
                  <a:schemeClr val="accent5"/>
                </a:solidFill>
              </a:rPr>
              <a:t>missing values</a:t>
            </a:r>
            <a:endParaRPr lang="en-US" sz="1200" dirty="0"/>
          </a:p>
        </p:txBody>
      </p:sp>
      <p:sp>
        <p:nvSpPr>
          <p:cNvPr id="11" name="Card"/>
          <p:cNvSpPr/>
          <p:nvPr/>
        </p:nvSpPr>
        <p:spPr>
          <a:xfrm>
            <a:off x="3383280" y="2514600"/>
            <a:ext cx="2606040" cy="1371600"/>
          </a:xfrm>
          <a:prstGeom prst="roundRect">
            <a:avLst>
              <a:gd name="adj" fmla="val 6667"/>
            </a:avLst>
          </a:prstGeom>
          <a:solidFill>
            <a:schemeClr val="bg2"/>
          </a:solidFill>
          <a:ln/>
        </p:spPr>
      </p:sp>
      <p:sp>
        <p:nvSpPr>
          <p:cNvPr id="12" name="Text 9"/>
          <p:cNvSpPr txBox="1"/>
          <p:nvPr/>
        </p:nvSpPr>
        <p:spPr>
          <a:xfrm>
            <a:off x="3520440" y="2624328"/>
            <a:ext cx="2331720" cy="685800"/>
          </a:xfrm>
          <a:prstGeom prst="rect">
            <a:avLst/>
          </a:prstGeom>
          <a:noFill/>
          <a:ln/>
        </p:spPr>
        <p:txBody>
          <a:bodyPr wrap="square" lIns="0" tIns="0" rIns="0" bIns="0" rtlCol="0" anchor="ctr"/>
          <a:lstStyle/>
          <a:p>
            <a:pPr indent="0" marL="0">
              <a:buNone/>
            </a:pPr>
            <a:r>
              <a:rPr lang="en-US" sz="2800" b="1" dirty="0">
                <a:solidFill>
                  <a:schemeClr val="tx2"/>
                </a:solidFill>
              </a:rPr>
              <a:t>0</a:t>
            </a:r>
            <a:endParaRPr lang="en-US" sz="2800" dirty="0"/>
          </a:p>
        </p:txBody>
      </p:sp>
      <p:sp>
        <p:nvSpPr>
          <p:cNvPr id="13" name="Text 10"/>
          <p:cNvSpPr txBox="1"/>
          <p:nvPr/>
        </p:nvSpPr>
        <p:spPr>
          <a:xfrm>
            <a:off x="3520440" y="3310128"/>
            <a:ext cx="2331720" cy="548640"/>
          </a:xfrm>
          <a:prstGeom prst="rect">
            <a:avLst/>
          </a:prstGeom>
          <a:noFill/>
          <a:ln/>
        </p:spPr>
        <p:txBody>
          <a:bodyPr wrap="square" lIns="0" tIns="0" rIns="0" bIns="0" rtlCol="0" anchor="t"/>
          <a:lstStyle/>
          <a:p>
            <a:pPr indent="0" marL="0">
              <a:buNone/>
            </a:pPr>
            <a:r>
              <a:rPr lang="en-US" sz="1200" dirty="0">
                <a:solidFill>
                  <a:schemeClr val="accent5"/>
                </a:solidFill>
              </a:rPr>
              <a:t>duplicate rows</a:t>
            </a:r>
            <a:endParaRPr lang="en-US" sz="1200" dirty="0"/>
          </a:p>
        </p:txBody>
      </p:sp>
      <p:sp>
        <p:nvSpPr>
          <p:cNvPr id="14" name="Card"/>
          <p:cNvSpPr/>
          <p:nvPr/>
        </p:nvSpPr>
        <p:spPr>
          <a:xfrm>
            <a:off x="6217920" y="2514600"/>
            <a:ext cx="2606040" cy="1371600"/>
          </a:xfrm>
          <a:prstGeom prst="roundRect">
            <a:avLst>
              <a:gd name="adj" fmla="val 6667"/>
            </a:avLst>
          </a:prstGeom>
          <a:solidFill>
            <a:schemeClr val="bg2"/>
          </a:solidFill>
          <a:ln/>
        </p:spPr>
      </p:sp>
      <p:sp>
        <p:nvSpPr>
          <p:cNvPr id="15" name="Text 12"/>
          <p:cNvSpPr txBox="1"/>
          <p:nvPr/>
        </p:nvSpPr>
        <p:spPr>
          <a:xfrm>
            <a:off x="6355080" y="2624328"/>
            <a:ext cx="2331720" cy="685800"/>
          </a:xfrm>
          <a:prstGeom prst="rect">
            <a:avLst/>
          </a:prstGeom>
          <a:noFill/>
          <a:ln/>
        </p:spPr>
        <p:txBody>
          <a:bodyPr wrap="square" lIns="0" tIns="0" rIns="0" bIns="0" rtlCol="0" anchor="ctr"/>
          <a:lstStyle/>
          <a:p>
            <a:pPr indent="0" marL="0">
              <a:buNone/>
            </a:pPr>
            <a:r>
              <a:rPr lang="en-US" sz="2800" b="1" dirty="0">
                <a:solidFill>
                  <a:schemeClr val="tx2"/>
                </a:solidFill>
              </a:rPr>
              <a:t>10 min</a:t>
            </a:r>
            <a:endParaRPr lang="en-US" sz="2800" dirty="0"/>
          </a:p>
        </p:txBody>
      </p:sp>
      <p:sp>
        <p:nvSpPr>
          <p:cNvPr id="16" name="Text 13"/>
          <p:cNvSpPr txBox="1"/>
          <p:nvPr/>
        </p:nvSpPr>
        <p:spPr>
          <a:xfrm>
            <a:off x="6355080" y="3310128"/>
            <a:ext cx="2331720" cy="548640"/>
          </a:xfrm>
          <a:prstGeom prst="rect">
            <a:avLst/>
          </a:prstGeom>
          <a:noFill/>
          <a:ln/>
        </p:spPr>
        <p:txBody>
          <a:bodyPr wrap="square" lIns="0" tIns="0" rIns="0" bIns="0" rtlCol="0" anchor="t"/>
          <a:lstStyle/>
          <a:p>
            <a:pPr indent="0" marL="0">
              <a:buNone/>
            </a:pPr>
            <a:r>
              <a:rPr lang="en-US" sz="1200" dirty="0">
                <a:solidFill>
                  <a:schemeClr val="accent5"/>
                </a:solidFill>
              </a:rPr>
              <a:t>exact time step</a:t>
            </a:r>
            <a:endParaRPr lang="en-US" sz="1200" dirty="0"/>
          </a:p>
        </p:txBody>
      </p:sp>
      <p:sp>
        <p:nvSpPr>
          <p:cNvPr id="17" name="Card"/>
          <p:cNvSpPr/>
          <p:nvPr/>
        </p:nvSpPr>
        <p:spPr>
          <a:xfrm>
            <a:off x="9052560" y="2514600"/>
            <a:ext cx="2606040" cy="1371600"/>
          </a:xfrm>
          <a:prstGeom prst="roundRect">
            <a:avLst>
              <a:gd name="adj" fmla="val 6667"/>
            </a:avLst>
          </a:prstGeom>
          <a:solidFill>
            <a:schemeClr val="bg2"/>
          </a:solidFill>
          <a:ln/>
        </p:spPr>
      </p:sp>
      <p:sp>
        <p:nvSpPr>
          <p:cNvPr id="18" name="Text 15"/>
          <p:cNvSpPr txBox="1"/>
          <p:nvPr/>
        </p:nvSpPr>
        <p:spPr>
          <a:xfrm>
            <a:off x="9189720" y="2624328"/>
            <a:ext cx="2331720" cy="685800"/>
          </a:xfrm>
          <a:prstGeom prst="rect">
            <a:avLst/>
          </a:prstGeom>
          <a:noFill/>
          <a:ln/>
        </p:spPr>
        <p:txBody>
          <a:bodyPr wrap="square" lIns="0" tIns="0" rIns="0" bIns="0" rtlCol="0" anchor="ctr"/>
          <a:lstStyle/>
          <a:p>
            <a:pPr indent="0" marL="0">
              <a:buNone/>
            </a:pPr>
            <a:r>
              <a:rPr lang="en-US" sz="2800" b="1" dirty="0">
                <a:solidFill>
                  <a:schemeClr val="tx2"/>
                </a:solidFill>
              </a:rPr>
              <a:t>Train only</a:t>
            </a:r>
            <a:endParaRPr lang="en-US" sz="2800" dirty="0"/>
          </a:p>
        </p:txBody>
      </p:sp>
      <p:sp>
        <p:nvSpPr>
          <p:cNvPr id="19" name="Text 16"/>
          <p:cNvSpPr txBox="1"/>
          <p:nvPr/>
        </p:nvSpPr>
        <p:spPr>
          <a:xfrm>
            <a:off x="9189720" y="3310128"/>
            <a:ext cx="2331720" cy="548640"/>
          </a:xfrm>
          <a:prstGeom prst="rect">
            <a:avLst/>
          </a:prstGeom>
          <a:noFill/>
          <a:ln/>
        </p:spPr>
        <p:txBody>
          <a:bodyPr wrap="square" lIns="0" tIns="0" rIns="0" bIns="0" rtlCol="0" anchor="t"/>
          <a:lstStyle/>
          <a:p>
            <a:pPr indent="0" marL="0">
              <a:buNone/>
            </a:pPr>
            <a:r>
              <a:rPr lang="en-US" sz="1200" dirty="0">
                <a:solidFill>
                  <a:schemeClr val="accent5"/>
                </a:solidFill>
              </a:rPr>
              <a:t>where scaling is learned</a:t>
            </a:r>
            <a:endParaRPr lang="en-US" sz="1200" dirty="0"/>
          </a:p>
        </p:txBody>
      </p:sp>
      <p:sp>
        <p:nvSpPr>
          <p:cNvPr id="20" name="Card"/>
          <p:cNvSpPr/>
          <p:nvPr/>
        </p:nvSpPr>
        <p:spPr>
          <a:xfrm>
            <a:off x="548640" y="4206240"/>
            <a:ext cx="3474720" cy="2011680"/>
          </a:xfrm>
          <a:prstGeom prst="roundRect">
            <a:avLst>
              <a:gd name="adj" fmla="val 4545"/>
            </a:avLst>
          </a:prstGeom>
          <a:solidFill>
            <a:schemeClr val="bg2"/>
          </a:solidFill>
          <a:ln/>
        </p:spPr>
      </p:sp>
      <p:sp>
        <p:nvSpPr>
          <p:cNvPr id="21" name="Text 18"/>
          <p:cNvSpPr txBox="1"/>
          <p:nvPr/>
        </p:nvSpPr>
        <p:spPr>
          <a:xfrm>
            <a:off x="731520" y="4315968"/>
            <a:ext cx="3108960" cy="320040"/>
          </a:xfrm>
          <a:prstGeom prst="rect">
            <a:avLst/>
          </a:prstGeom>
          <a:noFill/>
          <a:ln/>
        </p:spPr>
        <p:txBody>
          <a:bodyPr wrap="square" lIns="0" tIns="0" rIns="0" bIns="0" rtlCol="0" anchor="t"/>
          <a:lstStyle/>
          <a:p>
            <a:pPr indent="0" marL="0">
              <a:buNone/>
            </a:pPr>
            <a:r>
              <a:rPr lang="en-US" sz="1600" b="1" dirty="0">
                <a:solidFill>
                  <a:schemeClr val="accent1"/>
                </a:solidFill>
              </a:rPr>
              <a:t>Why we did this</a:t>
            </a:r>
            <a:endParaRPr lang="en-US" sz="1600" dirty="0"/>
          </a:p>
        </p:txBody>
      </p:sp>
      <p:sp>
        <p:nvSpPr>
          <p:cNvPr id="22" name="Text 19"/>
          <p:cNvSpPr txBox="1"/>
          <p:nvPr/>
        </p:nvSpPr>
        <p:spPr>
          <a:xfrm>
            <a:off x="731520" y="4709160"/>
            <a:ext cx="3108960" cy="1417320"/>
          </a:xfrm>
          <a:prstGeom prst="rect">
            <a:avLst/>
          </a:prstGeom>
          <a:noFill/>
          <a:ln/>
        </p:spPr>
        <p:txBody>
          <a:bodyPr wrap="square" lIns="0" tIns="0" rIns="0" bIns="0" rtlCol="0" anchor="t"/>
          <a:lstStyle/>
          <a:p>
            <a:pPr indent="0" marL="0">
              <a:buNone/>
            </a:pPr>
            <a:r>
              <a:rPr lang="en-US" sz="1400" dirty="0">
                <a:solidFill>
                  <a:schemeClr val="tx1"/>
                </a:solidFill>
              </a:rPr>
              <a:t>Models must be tested on the future, so we split by time, not at random, and learn scaling from training data only.</a:t>
            </a:r>
            <a:endParaRPr lang="en-US" sz="1400" dirty="0"/>
          </a:p>
        </p:txBody>
      </p:sp>
      <p:sp>
        <p:nvSpPr>
          <p:cNvPr id="23" name="Card"/>
          <p:cNvSpPr/>
          <p:nvPr/>
        </p:nvSpPr>
        <p:spPr>
          <a:xfrm>
            <a:off x="4343400" y="4206240"/>
            <a:ext cx="3474720" cy="2011680"/>
          </a:xfrm>
          <a:prstGeom prst="roundRect">
            <a:avLst>
              <a:gd name="adj" fmla="val 4545"/>
            </a:avLst>
          </a:prstGeom>
          <a:solidFill>
            <a:schemeClr val="bg2"/>
          </a:solidFill>
          <a:ln/>
        </p:spPr>
      </p:sp>
      <p:sp>
        <p:nvSpPr>
          <p:cNvPr id="24" name="Text 21"/>
          <p:cNvSpPr txBox="1"/>
          <p:nvPr/>
        </p:nvSpPr>
        <p:spPr>
          <a:xfrm>
            <a:off x="4526280" y="4315968"/>
            <a:ext cx="3108960" cy="320040"/>
          </a:xfrm>
          <a:prstGeom prst="rect">
            <a:avLst/>
          </a:prstGeom>
          <a:noFill/>
          <a:ln/>
        </p:spPr>
        <p:txBody>
          <a:bodyPr wrap="square" lIns="0" tIns="0" rIns="0" bIns="0" rtlCol="0" anchor="t"/>
          <a:lstStyle/>
          <a:p>
            <a:pPr indent="0" marL="0">
              <a:buNone/>
            </a:pPr>
            <a:r>
              <a:rPr lang="en-US" sz="1600" b="1" dirty="0">
                <a:solidFill>
                  <a:schemeClr val="accent3"/>
                </a:solidFill>
              </a:rPr>
              <a:t>What we found</a:t>
            </a:r>
            <a:endParaRPr lang="en-US" sz="1600" dirty="0"/>
          </a:p>
        </p:txBody>
      </p:sp>
      <p:sp>
        <p:nvSpPr>
          <p:cNvPr id="25" name="Text 22"/>
          <p:cNvSpPr txBox="1"/>
          <p:nvPr/>
        </p:nvSpPr>
        <p:spPr>
          <a:xfrm>
            <a:off x="4526280" y="4709160"/>
            <a:ext cx="3108960" cy="1417320"/>
          </a:xfrm>
          <a:prstGeom prst="rect">
            <a:avLst/>
          </a:prstGeom>
          <a:noFill/>
          <a:ln/>
        </p:spPr>
        <p:txBody>
          <a:bodyPr wrap="square" lIns="0" tIns="0" rIns="0" bIns="0" rtlCol="0" anchor="t"/>
          <a:lstStyle/>
          <a:p>
            <a:pPr indent="0" marL="0">
              <a:buNone/>
            </a:pPr>
            <a:r>
              <a:rPr lang="en-US" sz="1400" dirty="0">
                <a:solidFill>
                  <a:schemeClr val="tx1"/>
                </a:solidFill>
              </a:rPr>
              <a:t>Clean data: no missing values or duplicates. A later 3,947-reading period was held back for testing.</a:t>
            </a:r>
            <a:endParaRPr lang="en-US" sz="1400" dirty="0"/>
          </a:p>
        </p:txBody>
      </p:sp>
      <p:sp>
        <p:nvSpPr>
          <p:cNvPr id="26" name="Card"/>
          <p:cNvSpPr/>
          <p:nvPr/>
        </p:nvSpPr>
        <p:spPr>
          <a:xfrm>
            <a:off x="8138160" y="4206240"/>
            <a:ext cx="3474720" cy="2011680"/>
          </a:xfrm>
          <a:prstGeom prst="roundRect">
            <a:avLst>
              <a:gd name="adj" fmla="val 4545"/>
            </a:avLst>
          </a:prstGeom>
          <a:solidFill>
            <a:schemeClr val="bg2"/>
          </a:solidFill>
          <a:ln/>
        </p:spPr>
      </p:sp>
      <p:sp>
        <p:nvSpPr>
          <p:cNvPr id="27" name="Text 24"/>
          <p:cNvSpPr txBox="1"/>
          <p:nvPr/>
        </p:nvSpPr>
        <p:spPr>
          <a:xfrm>
            <a:off x="8321040" y="4315968"/>
            <a:ext cx="3108960" cy="320040"/>
          </a:xfrm>
          <a:prstGeom prst="rect">
            <a:avLst/>
          </a:prstGeom>
          <a:noFill/>
          <a:ln/>
        </p:spPr>
        <p:txBody>
          <a:bodyPr wrap="square" lIns="0" tIns="0" rIns="0" bIns="0" rtlCol="0" anchor="t"/>
          <a:lstStyle/>
          <a:p>
            <a:pPr indent="0" marL="0">
              <a:buNone/>
            </a:pPr>
            <a:r>
              <a:rPr lang="en-US" sz="1600" b="1" dirty="0">
                <a:solidFill>
                  <a:schemeClr val="tx2"/>
                </a:solidFill>
              </a:rPr>
              <a:t>How it can help</a:t>
            </a:r>
            <a:endParaRPr lang="en-US" sz="1600" dirty="0"/>
          </a:p>
        </p:txBody>
      </p:sp>
      <p:sp>
        <p:nvSpPr>
          <p:cNvPr id="28" name="Text 25"/>
          <p:cNvSpPr txBox="1"/>
          <p:nvPr/>
        </p:nvSpPr>
        <p:spPr>
          <a:xfrm>
            <a:off x="8321040" y="4709160"/>
            <a:ext cx="3108960" cy="1417320"/>
          </a:xfrm>
          <a:prstGeom prst="rect">
            <a:avLst/>
          </a:prstGeom>
          <a:noFill/>
          <a:ln/>
        </p:spPr>
        <p:txBody>
          <a:bodyPr wrap="square" lIns="0" tIns="0" rIns="0" bIns="0" rtlCol="0" anchor="t"/>
          <a:lstStyle/>
          <a:p>
            <a:pPr indent="0" marL="0">
              <a:buNone/>
            </a:pPr>
            <a:r>
              <a:rPr lang="en-US" sz="1400" dirty="0">
                <a:solidFill>
                  <a:schemeClr val="tx1"/>
                </a:solidFill>
              </a:rPr>
              <a:t>A fair test shows how the model would behave on new weeks, so a user can trust the reported accuracy.</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400" b="1" dirty="0">
                <a:solidFill>
                  <a:schemeClr val="tx2"/>
                </a:solidFill>
              </a:rPr>
              <a:t>Feature Engineering</a:t>
            </a:r>
            <a:endParaRPr lang="en-US" sz="3400" dirty="0"/>
          </a:p>
        </p:txBody>
      </p:sp>
      <p:sp>
        <p:nvSpPr>
          <p:cNvPr id="4" name="Card"/>
          <p:cNvSpPr/>
          <p:nvPr/>
        </p:nvSpPr>
        <p:spPr>
          <a:xfrm>
            <a:off x="548640" y="1280160"/>
            <a:ext cx="2606040" cy="2103120"/>
          </a:xfrm>
          <a:prstGeom prst="roundRect">
            <a:avLst>
              <a:gd name="adj" fmla="val 4348"/>
            </a:avLst>
          </a:prstGeom>
          <a:solidFill>
            <a:schemeClr val="bg2"/>
          </a:solidFill>
          <a:ln/>
        </p:spPr>
      </p:sp>
      <p:sp>
        <p:nvSpPr>
          <p:cNvPr id="5" name="Text 2"/>
          <p:cNvSpPr txBox="1"/>
          <p:nvPr/>
        </p:nvSpPr>
        <p:spPr>
          <a:xfrm>
            <a:off x="685800" y="1417320"/>
            <a:ext cx="2331720" cy="594360"/>
          </a:xfrm>
          <a:prstGeom prst="rect">
            <a:avLst/>
          </a:prstGeom>
          <a:noFill/>
          <a:ln/>
        </p:spPr>
        <p:txBody>
          <a:bodyPr wrap="square" lIns="0" tIns="0" rIns="0" bIns="0" rtlCol="0" anchor="t"/>
          <a:lstStyle/>
          <a:p>
            <a:pPr indent="0" marL="0">
              <a:buNone/>
            </a:pPr>
            <a:r>
              <a:rPr lang="en-US" sz="1600" b="1" dirty="0">
                <a:solidFill>
                  <a:schemeClr val="accent1"/>
                </a:solidFill>
              </a:rPr>
              <a:t>Time of day and week</a:t>
            </a:r>
            <a:endParaRPr lang="en-US" sz="1600" dirty="0"/>
          </a:p>
        </p:txBody>
      </p:sp>
      <p:sp>
        <p:nvSpPr>
          <p:cNvPr id="6" name="Text 3"/>
          <p:cNvSpPr txBox="1"/>
          <p:nvPr/>
        </p:nvSpPr>
        <p:spPr>
          <a:xfrm>
            <a:off x="685800" y="2057400"/>
            <a:ext cx="2331720" cy="1280160"/>
          </a:xfrm>
          <a:prstGeom prst="rect">
            <a:avLst/>
          </a:prstGeom>
          <a:noFill/>
          <a:ln/>
        </p:spPr>
        <p:txBody>
          <a:bodyPr wrap="square" lIns="0" tIns="0" rIns="0" bIns="0" rtlCol="0" anchor="t"/>
          <a:lstStyle/>
          <a:p>
            <a:pPr indent="0" marL="0">
              <a:buNone/>
            </a:pPr>
            <a:r>
              <a:rPr lang="en-US" sz="1400" dirty="0">
                <a:solidFill>
                  <a:schemeClr val="tx1"/>
                </a:solidFill>
              </a:rPr>
              <a:t>Hour, weekday and weekend capture daily routine.</a:t>
            </a:r>
            <a:endParaRPr lang="en-US" sz="1400" dirty="0"/>
          </a:p>
        </p:txBody>
      </p:sp>
      <p:sp>
        <p:nvSpPr>
          <p:cNvPr id="7" name="Card"/>
          <p:cNvSpPr/>
          <p:nvPr/>
        </p:nvSpPr>
        <p:spPr>
          <a:xfrm>
            <a:off x="3383280" y="1280160"/>
            <a:ext cx="2606040" cy="2103120"/>
          </a:xfrm>
          <a:prstGeom prst="roundRect">
            <a:avLst>
              <a:gd name="adj" fmla="val 4348"/>
            </a:avLst>
          </a:prstGeom>
          <a:solidFill>
            <a:schemeClr val="bg2"/>
          </a:solidFill>
          <a:ln/>
        </p:spPr>
      </p:sp>
      <p:sp>
        <p:nvSpPr>
          <p:cNvPr id="8" name="Text 5"/>
          <p:cNvSpPr txBox="1"/>
          <p:nvPr/>
        </p:nvSpPr>
        <p:spPr>
          <a:xfrm>
            <a:off x="3520440" y="1417320"/>
            <a:ext cx="2331720" cy="594360"/>
          </a:xfrm>
          <a:prstGeom prst="rect">
            <a:avLst/>
          </a:prstGeom>
          <a:noFill/>
          <a:ln/>
        </p:spPr>
        <p:txBody>
          <a:bodyPr wrap="square" lIns="0" tIns="0" rIns="0" bIns="0" rtlCol="0" anchor="t"/>
          <a:lstStyle/>
          <a:p>
            <a:pPr indent="0" marL="0">
              <a:buNone/>
            </a:pPr>
            <a:r>
              <a:rPr lang="en-US" sz="1600" b="1" dirty="0">
                <a:solidFill>
                  <a:schemeClr val="accent1"/>
                </a:solidFill>
              </a:rPr>
              <a:t>Clock as a circle</a:t>
            </a:r>
            <a:endParaRPr lang="en-US" sz="1600" dirty="0"/>
          </a:p>
        </p:txBody>
      </p:sp>
      <p:sp>
        <p:nvSpPr>
          <p:cNvPr id="9" name="Text 6"/>
          <p:cNvSpPr txBox="1"/>
          <p:nvPr/>
        </p:nvSpPr>
        <p:spPr>
          <a:xfrm>
            <a:off x="3520440" y="2057400"/>
            <a:ext cx="2331720" cy="1280160"/>
          </a:xfrm>
          <a:prstGeom prst="rect">
            <a:avLst/>
          </a:prstGeom>
          <a:noFill/>
          <a:ln/>
        </p:spPr>
        <p:txBody>
          <a:bodyPr wrap="square" lIns="0" tIns="0" rIns="0" bIns="0" rtlCol="0" anchor="t"/>
          <a:lstStyle/>
          <a:p>
            <a:pPr indent="0" marL="0">
              <a:buNone/>
            </a:pPr>
            <a:r>
              <a:rPr lang="en-US" sz="1400" dirty="0">
                <a:solidFill>
                  <a:schemeClr val="tx1"/>
                </a:solidFill>
              </a:rPr>
              <a:t>Sine and cosine make 23:00 close to 00:00.</a:t>
            </a:r>
            <a:endParaRPr lang="en-US" sz="1400" dirty="0"/>
          </a:p>
        </p:txBody>
      </p:sp>
      <p:sp>
        <p:nvSpPr>
          <p:cNvPr id="10" name="Card"/>
          <p:cNvSpPr/>
          <p:nvPr/>
        </p:nvSpPr>
        <p:spPr>
          <a:xfrm>
            <a:off x="6217920" y="1280160"/>
            <a:ext cx="2606040" cy="2103120"/>
          </a:xfrm>
          <a:prstGeom prst="roundRect">
            <a:avLst>
              <a:gd name="adj" fmla="val 4348"/>
            </a:avLst>
          </a:prstGeom>
          <a:solidFill>
            <a:schemeClr val="bg2"/>
          </a:solidFill>
          <a:ln/>
        </p:spPr>
      </p:sp>
      <p:sp>
        <p:nvSpPr>
          <p:cNvPr id="11" name="Text 8"/>
          <p:cNvSpPr txBox="1"/>
          <p:nvPr/>
        </p:nvSpPr>
        <p:spPr>
          <a:xfrm>
            <a:off x="6355080" y="1417320"/>
            <a:ext cx="2331720" cy="594360"/>
          </a:xfrm>
          <a:prstGeom prst="rect">
            <a:avLst/>
          </a:prstGeom>
          <a:noFill/>
          <a:ln/>
        </p:spPr>
        <p:txBody>
          <a:bodyPr wrap="square" lIns="0" tIns="0" rIns="0" bIns="0" rtlCol="0" anchor="t"/>
          <a:lstStyle/>
          <a:p>
            <a:pPr indent="0" marL="0">
              <a:buNone/>
            </a:pPr>
            <a:r>
              <a:rPr lang="en-US" sz="1600" b="1" dirty="0">
                <a:solidFill>
                  <a:schemeClr val="accent1"/>
                </a:solidFill>
              </a:rPr>
              <a:t>Temperature gap</a:t>
            </a:r>
            <a:endParaRPr lang="en-US" sz="1600" dirty="0"/>
          </a:p>
        </p:txBody>
      </p:sp>
      <p:sp>
        <p:nvSpPr>
          <p:cNvPr id="12" name="Text 9"/>
          <p:cNvSpPr txBox="1"/>
          <p:nvPr/>
        </p:nvSpPr>
        <p:spPr>
          <a:xfrm>
            <a:off x="6355080" y="2057400"/>
            <a:ext cx="2331720" cy="1280160"/>
          </a:xfrm>
          <a:prstGeom prst="rect">
            <a:avLst/>
          </a:prstGeom>
          <a:noFill/>
          <a:ln/>
        </p:spPr>
        <p:txBody>
          <a:bodyPr wrap="square" lIns="0" tIns="0" rIns="0" bIns="0" rtlCol="0" anchor="t"/>
          <a:lstStyle/>
          <a:p>
            <a:pPr indent="0" marL="0">
              <a:buNone/>
            </a:pPr>
            <a:r>
              <a:rPr lang="en-US" sz="1400" dirty="0">
                <a:solidFill>
                  <a:schemeClr val="tx1"/>
                </a:solidFill>
              </a:rPr>
              <a:t>Indoor minus outdoor temperature, a heating-demand signal.</a:t>
            </a:r>
            <a:endParaRPr lang="en-US" sz="1400" dirty="0"/>
          </a:p>
        </p:txBody>
      </p:sp>
      <p:sp>
        <p:nvSpPr>
          <p:cNvPr id="13" name="Card"/>
          <p:cNvSpPr/>
          <p:nvPr/>
        </p:nvSpPr>
        <p:spPr>
          <a:xfrm>
            <a:off x="9052560" y="1280160"/>
            <a:ext cx="2606040" cy="2103120"/>
          </a:xfrm>
          <a:prstGeom prst="roundRect">
            <a:avLst>
              <a:gd name="adj" fmla="val 4348"/>
            </a:avLst>
          </a:prstGeom>
          <a:solidFill>
            <a:schemeClr val="bg2"/>
          </a:solidFill>
          <a:ln/>
        </p:spPr>
      </p:sp>
      <p:sp>
        <p:nvSpPr>
          <p:cNvPr id="14" name="Text 11"/>
          <p:cNvSpPr txBox="1"/>
          <p:nvPr/>
        </p:nvSpPr>
        <p:spPr>
          <a:xfrm>
            <a:off x="9189720" y="1417320"/>
            <a:ext cx="2331720" cy="594360"/>
          </a:xfrm>
          <a:prstGeom prst="rect">
            <a:avLst/>
          </a:prstGeom>
          <a:noFill/>
          <a:ln/>
        </p:spPr>
        <p:txBody>
          <a:bodyPr wrap="square" lIns="0" tIns="0" rIns="0" bIns="0" rtlCol="0" anchor="t"/>
          <a:lstStyle/>
          <a:p>
            <a:pPr indent="0" marL="0">
              <a:buNone/>
            </a:pPr>
            <a:r>
              <a:rPr lang="en-US" sz="1600" b="1" dirty="0">
                <a:solidFill>
                  <a:schemeClr val="accent1"/>
                </a:solidFill>
              </a:rPr>
              <a:t>Sensor averages</a:t>
            </a:r>
            <a:endParaRPr lang="en-US" sz="1600" dirty="0"/>
          </a:p>
        </p:txBody>
      </p:sp>
      <p:sp>
        <p:nvSpPr>
          <p:cNvPr id="15" name="Text 12"/>
          <p:cNvSpPr txBox="1"/>
          <p:nvPr/>
        </p:nvSpPr>
        <p:spPr>
          <a:xfrm>
            <a:off x="9189720" y="2057400"/>
            <a:ext cx="2331720" cy="1280160"/>
          </a:xfrm>
          <a:prstGeom prst="rect">
            <a:avLst/>
          </a:prstGeom>
          <a:noFill/>
          <a:ln/>
        </p:spPr>
        <p:txBody>
          <a:bodyPr wrap="square" lIns="0" tIns="0" rIns="0" bIns="0" rtlCol="0" anchor="t"/>
          <a:lstStyle/>
          <a:p>
            <a:pPr indent="0" marL="0">
              <a:buNone/>
            </a:pPr>
            <a:r>
              <a:rPr lang="en-US" sz="1400" dirty="0">
                <a:solidFill>
                  <a:schemeClr val="tx1"/>
                </a:solidFill>
              </a:rPr>
              <a:t>Indoor temperature and humidity means; removed by the stability check.</a:t>
            </a:r>
            <a:endParaRPr lang="en-US" sz="1400" dirty="0"/>
          </a:p>
        </p:txBody>
      </p:sp>
      <p:sp>
        <p:nvSpPr>
          <p:cNvPr id="16" name="Card"/>
          <p:cNvSpPr/>
          <p:nvPr/>
        </p:nvSpPr>
        <p:spPr>
          <a:xfrm>
            <a:off x="548640" y="3520440"/>
            <a:ext cx="11064240" cy="640080"/>
          </a:xfrm>
          <a:prstGeom prst="roundRect">
            <a:avLst>
              <a:gd name="adj" fmla="val 14286"/>
            </a:avLst>
          </a:prstGeom>
          <a:solidFill>
            <a:srgbClr val="FDF1D6"/>
          </a:solidFill>
          <a:ln/>
        </p:spPr>
      </p:sp>
      <p:sp>
        <p:nvSpPr>
          <p:cNvPr id="17" name="Text 14"/>
          <p:cNvSpPr txBox="1"/>
          <p:nvPr/>
        </p:nvSpPr>
        <p:spPr>
          <a:xfrm>
            <a:off x="731520" y="3520440"/>
            <a:ext cx="10698480" cy="640080"/>
          </a:xfrm>
          <a:prstGeom prst="rect">
            <a:avLst/>
          </a:prstGeom>
          <a:noFill/>
          <a:ln/>
        </p:spPr>
        <p:txBody>
          <a:bodyPr wrap="square" lIns="0" tIns="0" rIns="0" bIns="0" rtlCol="0" anchor="ctr"/>
          <a:lstStyle/>
          <a:p>
            <a:pPr indent="0" marL="0">
              <a:buNone/>
            </a:pPr>
            <a:r>
              <a:rPr lang="en-US" sz="1500" b="1" dirty="0">
                <a:solidFill>
                  <a:schemeClr val="tx2"/>
                </a:solidFill>
              </a:rPr>
              <a:t>34 candidate features → 16 kept after removing features whose values shifted over time</a:t>
            </a:r>
            <a:endParaRPr lang="en-US" sz="1500" dirty="0"/>
          </a:p>
        </p:txBody>
      </p:sp>
      <p:sp>
        <p:nvSpPr>
          <p:cNvPr id="18" name="Card"/>
          <p:cNvSpPr/>
          <p:nvPr/>
        </p:nvSpPr>
        <p:spPr>
          <a:xfrm>
            <a:off x="548640" y="4389120"/>
            <a:ext cx="3474720" cy="1828800"/>
          </a:xfrm>
          <a:prstGeom prst="roundRect">
            <a:avLst>
              <a:gd name="adj" fmla="val 5000"/>
            </a:avLst>
          </a:prstGeom>
          <a:solidFill>
            <a:schemeClr val="bg2"/>
          </a:solidFill>
          <a:ln/>
        </p:spPr>
      </p:sp>
      <p:sp>
        <p:nvSpPr>
          <p:cNvPr id="19" name="Text 16"/>
          <p:cNvSpPr txBox="1"/>
          <p:nvPr/>
        </p:nvSpPr>
        <p:spPr>
          <a:xfrm>
            <a:off x="731520" y="4498848"/>
            <a:ext cx="3108960" cy="320040"/>
          </a:xfrm>
          <a:prstGeom prst="rect">
            <a:avLst/>
          </a:prstGeom>
          <a:noFill/>
          <a:ln/>
        </p:spPr>
        <p:txBody>
          <a:bodyPr wrap="square" lIns="0" tIns="0" rIns="0" bIns="0" rtlCol="0" anchor="t"/>
          <a:lstStyle/>
          <a:p>
            <a:pPr indent="0" marL="0">
              <a:buNone/>
            </a:pPr>
            <a:r>
              <a:rPr lang="en-US" sz="1600" b="1" dirty="0">
                <a:solidFill>
                  <a:schemeClr val="accent1"/>
                </a:solidFill>
              </a:rPr>
              <a:t>Why we did this</a:t>
            </a:r>
            <a:endParaRPr lang="en-US" sz="1600" dirty="0"/>
          </a:p>
        </p:txBody>
      </p:sp>
      <p:sp>
        <p:nvSpPr>
          <p:cNvPr id="20" name="Text 17"/>
          <p:cNvSpPr txBox="1"/>
          <p:nvPr/>
        </p:nvSpPr>
        <p:spPr>
          <a:xfrm>
            <a:off x="731520" y="4892040"/>
            <a:ext cx="3108960" cy="1234440"/>
          </a:xfrm>
          <a:prstGeom prst="rect">
            <a:avLst/>
          </a:prstGeom>
          <a:noFill/>
          <a:ln/>
        </p:spPr>
        <p:txBody>
          <a:bodyPr wrap="square" lIns="0" tIns="0" rIns="0" bIns="0" rtlCol="0" anchor="t"/>
          <a:lstStyle/>
          <a:p>
            <a:pPr indent="0" marL="0">
              <a:buNone/>
            </a:pPr>
            <a:r>
              <a:rPr lang="en-US" sz="1400" dirty="0">
                <a:solidFill>
                  <a:schemeClr val="tx1"/>
                </a:solidFill>
              </a:rPr>
              <a:t>Raw clocks and sensors hide patterns. Features turn them into signals about routine and heating demand.</a:t>
            </a:r>
            <a:endParaRPr lang="en-US" sz="1400" dirty="0"/>
          </a:p>
        </p:txBody>
      </p:sp>
      <p:sp>
        <p:nvSpPr>
          <p:cNvPr id="21" name="Card"/>
          <p:cNvSpPr/>
          <p:nvPr/>
        </p:nvSpPr>
        <p:spPr>
          <a:xfrm>
            <a:off x="4343400" y="4389120"/>
            <a:ext cx="3474720" cy="1828800"/>
          </a:xfrm>
          <a:prstGeom prst="roundRect">
            <a:avLst>
              <a:gd name="adj" fmla="val 5000"/>
            </a:avLst>
          </a:prstGeom>
          <a:solidFill>
            <a:schemeClr val="bg2"/>
          </a:solidFill>
          <a:ln/>
        </p:spPr>
      </p:sp>
      <p:sp>
        <p:nvSpPr>
          <p:cNvPr id="22" name="Text 19"/>
          <p:cNvSpPr txBox="1"/>
          <p:nvPr/>
        </p:nvSpPr>
        <p:spPr>
          <a:xfrm>
            <a:off x="4526280" y="4498848"/>
            <a:ext cx="3108960" cy="320040"/>
          </a:xfrm>
          <a:prstGeom prst="rect">
            <a:avLst/>
          </a:prstGeom>
          <a:noFill/>
          <a:ln/>
        </p:spPr>
        <p:txBody>
          <a:bodyPr wrap="square" lIns="0" tIns="0" rIns="0" bIns="0" rtlCol="0" anchor="t"/>
          <a:lstStyle/>
          <a:p>
            <a:pPr indent="0" marL="0">
              <a:buNone/>
            </a:pPr>
            <a:r>
              <a:rPr lang="en-US" sz="1600" b="1" dirty="0">
                <a:solidFill>
                  <a:schemeClr val="accent3"/>
                </a:solidFill>
              </a:rPr>
              <a:t>What we found</a:t>
            </a:r>
            <a:endParaRPr lang="en-US" sz="1600" dirty="0"/>
          </a:p>
        </p:txBody>
      </p:sp>
      <p:sp>
        <p:nvSpPr>
          <p:cNvPr id="23" name="Text 20"/>
          <p:cNvSpPr txBox="1"/>
          <p:nvPr/>
        </p:nvSpPr>
        <p:spPr>
          <a:xfrm>
            <a:off x="4526280" y="4892040"/>
            <a:ext cx="3108960" cy="1234440"/>
          </a:xfrm>
          <a:prstGeom prst="rect">
            <a:avLst/>
          </a:prstGeom>
          <a:noFill/>
          <a:ln/>
        </p:spPr>
        <p:txBody>
          <a:bodyPr wrap="square" lIns="0" tIns="0" rIns="0" bIns="0" rtlCol="0" anchor="t"/>
          <a:lstStyle/>
          <a:p>
            <a:pPr indent="0" marL="0">
              <a:buNone/>
            </a:pPr>
            <a:r>
              <a:rPr lang="en-US" sz="1400" dirty="0">
                <a:solidFill>
                  <a:schemeClr val="tx1"/>
                </a:solidFill>
              </a:rPr>
              <a:t>Time features and the temperature gap survived; the sensor averages and month drifted and were removed.</a:t>
            </a:r>
            <a:endParaRPr lang="en-US" sz="1400" dirty="0"/>
          </a:p>
        </p:txBody>
      </p:sp>
      <p:sp>
        <p:nvSpPr>
          <p:cNvPr id="24" name="Card"/>
          <p:cNvSpPr/>
          <p:nvPr/>
        </p:nvSpPr>
        <p:spPr>
          <a:xfrm>
            <a:off x="8138160" y="4389120"/>
            <a:ext cx="3474720" cy="1828800"/>
          </a:xfrm>
          <a:prstGeom prst="roundRect">
            <a:avLst>
              <a:gd name="adj" fmla="val 5000"/>
            </a:avLst>
          </a:prstGeom>
          <a:solidFill>
            <a:schemeClr val="bg2"/>
          </a:solidFill>
          <a:ln/>
        </p:spPr>
      </p:sp>
      <p:sp>
        <p:nvSpPr>
          <p:cNvPr id="25" name="Text 22"/>
          <p:cNvSpPr txBox="1"/>
          <p:nvPr/>
        </p:nvSpPr>
        <p:spPr>
          <a:xfrm>
            <a:off x="8321040" y="4498848"/>
            <a:ext cx="3108960" cy="320040"/>
          </a:xfrm>
          <a:prstGeom prst="rect">
            <a:avLst/>
          </a:prstGeom>
          <a:noFill/>
          <a:ln/>
        </p:spPr>
        <p:txBody>
          <a:bodyPr wrap="square" lIns="0" tIns="0" rIns="0" bIns="0" rtlCol="0" anchor="t"/>
          <a:lstStyle/>
          <a:p>
            <a:pPr indent="0" marL="0">
              <a:buNone/>
            </a:pPr>
            <a:r>
              <a:rPr lang="en-US" sz="1600" b="1" dirty="0">
                <a:solidFill>
                  <a:schemeClr val="tx2"/>
                </a:solidFill>
              </a:rPr>
              <a:t>How it can help</a:t>
            </a:r>
            <a:endParaRPr lang="en-US" sz="1600" dirty="0"/>
          </a:p>
        </p:txBody>
      </p:sp>
      <p:sp>
        <p:nvSpPr>
          <p:cNvPr id="26" name="Text 23"/>
          <p:cNvSpPr txBox="1"/>
          <p:nvPr/>
        </p:nvSpPr>
        <p:spPr>
          <a:xfrm>
            <a:off x="8321040" y="4892040"/>
            <a:ext cx="3108960" cy="1234440"/>
          </a:xfrm>
          <a:prstGeom prst="rect">
            <a:avLst/>
          </a:prstGeom>
          <a:noFill/>
          <a:ln/>
        </p:spPr>
        <p:txBody>
          <a:bodyPr wrap="square" lIns="0" tIns="0" rIns="0" bIns="0" rtlCol="0" anchor="t"/>
          <a:lstStyle/>
          <a:p>
            <a:pPr indent="0" marL="0">
              <a:buNone/>
            </a:pPr>
            <a:r>
              <a:rPr lang="en-US" sz="1400" dirty="0">
                <a:solidFill>
                  <a:schemeClr val="tx1"/>
                </a:solidFill>
              </a:rPr>
              <a:t>Simple, meaningful inputs are easier to explain and less likely to break on new weeks.</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400" b="1" dirty="0">
                <a:solidFill>
                  <a:schemeClr val="tx2"/>
                </a:solidFill>
              </a:rPr>
              <a:t>PCA Results</a:t>
            </a:r>
            <a:endParaRPr lang="en-US" sz="3400" dirty="0"/>
          </a:p>
        </p:txBody>
      </p:sp>
      <p:sp>
        <p:nvSpPr>
          <p:cNvPr id="4" name="Card"/>
          <p:cNvSpPr/>
          <p:nvPr/>
        </p:nvSpPr>
        <p:spPr>
          <a:xfrm>
            <a:off x="548640" y="1280160"/>
            <a:ext cx="1783080" cy="1143000"/>
          </a:xfrm>
          <a:prstGeom prst="roundRect">
            <a:avLst>
              <a:gd name="adj" fmla="val 8000"/>
            </a:avLst>
          </a:prstGeom>
          <a:solidFill>
            <a:schemeClr val="bg2"/>
          </a:solidFill>
          <a:ln/>
        </p:spPr>
      </p:sp>
      <p:sp>
        <p:nvSpPr>
          <p:cNvPr id="5" name="Text 2"/>
          <p:cNvSpPr txBox="1"/>
          <p:nvPr/>
        </p:nvSpPr>
        <p:spPr>
          <a:xfrm>
            <a:off x="685800" y="1389888"/>
            <a:ext cx="1508760" cy="571500"/>
          </a:xfrm>
          <a:prstGeom prst="rect">
            <a:avLst/>
          </a:prstGeom>
          <a:noFill/>
          <a:ln/>
        </p:spPr>
        <p:txBody>
          <a:bodyPr wrap="square" lIns="0" tIns="0" rIns="0" bIns="0" rtlCol="0" anchor="ctr"/>
          <a:lstStyle/>
          <a:p>
            <a:pPr indent="0" marL="0">
              <a:buNone/>
            </a:pPr>
            <a:r>
              <a:rPr lang="en-US" sz="2800" b="1" dirty="0">
                <a:solidFill>
                  <a:schemeClr val="tx2"/>
                </a:solidFill>
              </a:rPr>
              <a:t>37.3%</a:t>
            </a:r>
            <a:endParaRPr lang="en-US" sz="2800" dirty="0"/>
          </a:p>
        </p:txBody>
      </p:sp>
      <p:sp>
        <p:nvSpPr>
          <p:cNvPr id="6" name="Text 3"/>
          <p:cNvSpPr txBox="1"/>
          <p:nvPr/>
        </p:nvSpPr>
        <p:spPr>
          <a:xfrm>
            <a:off x="685800" y="1961388"/>
            <a:ext cx="1508760" cy="457200"/>
          </a:xfrm>
          <a:prstGeom prst="rect">
            <a:avLst/>
          </a:prstGeom>
          <a:noFill/>
          <a:ln/>
        </p:spPr>
        <p:txBody>
          <a:bodyPr wrap="square" lIns="0" tIns="0" rIns="0" bIns="0" rtlCol="0" anchor="t"/>
          <a:lstStyle/>
          <a:p>
            <a:pPr indent="0" marL="0">
              <a:buNone/>
            </a:pPr>
            <a:r>
              <a:rPr lang="en-US" sz="1200" dirty="0">
                <a:solidFill>
                  <a:schemeClr val="accent5"/>
                </a:solidFill>
              </a:rPr>
              <a:t>temperature pattern</a:t>
            </a:r>
            <a:endParaRPr lang="en-US" sz="1200" dirty="0"/>
          </a:p>
        </p:txBody>
      </p:sp>
      <p:sp>
        <p:nvSpPr>
          <p:cNvPr id="7" name="Card"/>
          <p:cNvSpPr/>
          <p:nvPr/>
        </p:nvSpPr>
        <p:spPr>
          <a:xfrm>
            <a:off x="2505456" y="1280160"/>
            <a:ext cx="1783080" cy="1143000"/>
          </a:xfrm>
          <a:prstGeom prst="roundRect">
            <a:avLst>
              <a:gd name="adj" fmla="val 8000"/>
            </a:avLst>
          </a:prstGeom>
          <a:solidFill>
            <a:schemeClr val="bg2"/>
          </a:solidFill>
          <a:ln/>
        </p:spPr>
      </p:sp>
      <p:sp>
        <p:nvSpPr>
          <p:cNvPr id="8" name="Text 5"/>
          <p:cNvSpPr txBox="1"/>
          <p:nvPr/>
        </p:nvSpPr>
        <p:spPr>
          <a:xfrm>
            <a:off x="2642616" y="1389888"/>
            <a:ext cx="1508760" cy="571500"/>
          </a:xfrm>
          <a:prstGeom prst="rect">
            <a:avLst/>
          </a:prstGeom>
          <a:noFill/>
          <a:ln/>
        </p:spPr>
        <p:txBody>
          <a:bodyPr wrap="square" lIns="0" tIns="0" rIns="0" bIns="0" rtlCol="0" anchor="ctr"/>
          <a:lstStyle/>
          <a:p>
            <a:pPr indent="0" marL="0">
              <a:buNone/>
            </a:pPr>
            <a:r>
              <a:rPr lang="en-US" sz="2800" b="1" dirty="0">
                <a:solidFill>
                  <a:schemeClr val="tx2"/>
                </a:solidFill>
              </a:rPr>
              <a:t>28.3%</a:t>
            </a:r>
            <a:endParaRPr lang="en-US" sz="2800" dirty="0"/>
          </a:p>
        </p:txBody>
      </p:sp>
      <p:sp>
        <p:nvSpPr>
          <p:cNvPr id="9" name="Text 6"/>
          <p:cNvSpPr txBox="1"/>
          <p:nvPr/>
        </p:nvSpPr>
        <p:spPr>
          <a:xfrm>
            <a:off x="2642616" y="1961388"/>
            <a:ext cx="1508760" cy="457200"/>
          </a:xfrm>
          <a:prstGeom prst="rect">
            <a:avLst/>
          </a:prstGeom>
          <a:noFill/>
          <a:ln/>
        </p:spPr>
        <p:txBody>
          <a:bodyPr wrap="square" lIns="0" tIns="0" rIns="0" bIns="0" rtlCol="0" anchor="t"/>
          <a:lstStyle/>
          <a:p>
            <a:pPr indent="0" marL="0">
              <a:buNone/>
            </a:pPr>
            <a:r>
              <a:rPr lang="en-US" sz="1200" dirty="0">
                <a:solidFill>
                  <a:schemeClr val="accent5"/>
                </a:solidFill>
              </a:rPr>
              <a:t>humidity pattern</a:t>
            </a:r>
            <a:endParaRPr lang="en-US" sz="1200" dirty="0"/>
          </a:p>
        </p:txBody>
      </p:sp>
      <p:sp>
        <p:nvSpPr>
          <p:cNvPr id="10" name="Card"/>
          <p:cNvSpPr/>
          <p:nvPr/>
        </p:nvSpPr>
        <p:spPr>
          <a:xfrm>
            <a:off x="4462272" y="1280160"/>
            <a:ext cx="1783080" cy="1143000"/>
          </a:xfrm>
          <a:prstGeom prst="roundRect">
            <a:avLst>
              <a:gd name="adj" fmla="val 8000"/>
            </a:avLst>
          </a:prstGeom>
          <a:solidFill>
            <a:schemeClr val="bg2"/>
          </a:solidFill>
          <a:ln/>
        </p:spPr>
      </p:sp>
      <p:sp>
        <p:nvSpPr>
          <p:cNvPr id="11" name="Text 8"/>
          <p:cNvSpPr txBox="1"/>
          <p:nvPr/>
        </p:nvSpPr>
        <p:spPr>
          <a:xfrm>
            <a:off x="4599432" y="1389888"/>
            <a:ext cx="1508760" cy="571500"/>
          </a:xfrm>
          <a:prstGeom prst="rect">
            <a:avLst/>
          </a:prstGeom>
          <a:noFill/>
          <a:ln/>
        </p:spPr>
        <p:txBody>
          <a:bodyPr wrap="square" lIns="0" tIns="0" rIns="0" bIns="0" rtlCol="0" anchor="ctr"/>
          <a:lstStyle/>
          <a:p>
            <a:pPr indent="0" marL="0">
              <a:buNone/>
            </a:pPr>
            <a:r>
              <a:rPr lang="en-US" sz="2800" b="1" dirty="0">
                <a:solidFill>
                  <a:schemeClr val="tx2"/>
                </a:solidFill>
              </a:rPr>
              <a:t>65.6%</a:t>
            </a:r>
            <a:endParaRPr lang="en-US" sz="2800" dirty="0"/>
          </a:p>
        </p:txBody>
      </p:sp>
      <p:sp>
        <p:nvSpPr>
          <p:cNvPr id="12" name="Text 9"/>
          <p:cNvSpPr txBox="1"/>
          <p:nvPr/>
        </p:nvSpPr>
        <p:spPr>
          <a:xfrm>
            <a:off x="4599432" y="1961388"/>
            <a:ext cx="1508760" cy="457200"/>
          </a:xfrm>
          <a:prstGeom prst="rect">
            <a:avLst/>
          </a:prstGeom>
          <a:noFill/>
          <a:ln/>
        </p:spPr>
        <p:txBody>
          <a:bodyPr wrap="square" lIns="0" tIns="0" rIns="0" bIns="0" rtlCol="0" anchor="t"/>
          <a:lstStyle/>
          <a:p>
            <a:pPr indent="0" marL="0">
              <a:buNone/>
            </a:pPr>
            <a:r>
              <a:rPr lang="en-US" sz="1200" dirty="0">
                <a:solidFill>
                  <a:schemeClr val="accent5"/>
                </a:solidFill>
              </a:rPr>
              <a:t>together</a:t>
            </a:r>
            <a:endParaRPr lang="en-US" sz="1200" dirty="0"/>
          </a:p>
        </p:txBody>
      </p:sp>
      <p:sp>
        <p:nvSpPr>
          <p:cNvPr id="13" name="Card"/>
          <p:cNvSpPr/>
          <p:nvPr/>
        </p:nvSpPr>
        <p:spPr>
          <a:xfrm>
            <a:off x="548640" y="2606040"/>
            <a:ext cx="5669280" cy="1691640"/>
          </a:xfrm>
          <a:prstGeom prst="roundRect">
            <a:avLst>
              <a:gd name="adj" fmla="val 5405"/>
            </a:avLst>
          </a:prstGeom>
          <a:solidFill>
            <a:schemeClr val="bg2"/>
          </a:solidFill>
          <a:ln/>
        </p:spPr>
      </p:sp>
      <p:sp>
        <p:nvSpPr>
          <p:cNvPr id="14" name="Text 11"/>
          <p:cNvSpPr txBox="1"/>
          <p:nvPr/>
        </p:nvSpPr>
        <p:spPr>
          <a:xfrm>
            <a:off x="731520" y="2697480"/>
            <a:ext cx="5303520" cy="1508760"/>
          </a:xfrm>
          <a:prstGeom prst="rect">
            <a:avLst/>
          </a:prstGeom>
          <a:noFill/>
          <a:ln/>
        </p:spPr>
        <p:txBody>
          <a:bodyPr wrap="square" lIns="0" tIns="0" rIns="0" bIns="0" rtlCol="0" anchor="ctr"/>
          <a:lstStyle/>
          <a:p>
            <a:pPr indent="0" marL="0">
              <a:buNone/>
            </a:pPr>
            <a:r>
              <a:rPr lang="en-US" sz="1400" dirty="0">
                <a:solidFill>
                  <a:schemeClr val="tx1"/>
                </a:solidFill>
              </a:rPr>
              <a:t>Many sensors move together, so PCA squeezes them into a few patterns. Pattern 1 is mostly temperature sensors; pattern 2 is mostly humidity sensors.</a:t>
            </a:r>
            <a:endParaRPr lang="en-US" sz="1400" dirty="0"/>
          </a:p>
        </p:txBody>
      </p:sp>
      <p:graphicFrame>
        <p:nvGraphicFramePr>
          <p:cNvPr id="15" name="Chart 0" descr=""/>
          <p:cNvGraphicFramePr/>
          <p:nvPr/>
        </p:nvGraphicFramePr>
        <p:xfrm>
          <a:off x="6583680" y="1280160"/>
          <a:ext cx="5029200" cy="3017520"/>
        </p:xfrm>
        <a:graphic xmlns:a="http://schemas.openxmlformats.org/drawingml/2006/main">
          <a:graphicData uri="http://schemas.openxmlformats.org/drawingml/2006/chart">
            <c:chart xmlns:c="http://schemas.openxmlformats.org/drawingml/2006/chart" r:id="rId1"/>
          </a:graphicData>
        </a:graphic>
      </p:graphicFrame>
      <p:sp>
        <p:nvSpPr>
          <p:cNvPr id="16" name="Card"/>
          <p:cNvSpPr/>
          <p:nvPr/>
        </p:nvSpPr>
        <p:spPr>
          <a:xfrm>
            <a:off x="548640" y="4526280"/>
            <a:ext cx="3474720" cy="1691640"/>
          </a:xfrm>
          <a:prstGeom prst="roundRect">
            <a:avLst>
              <a:gd name="adj" fmla="val 5405"/>
            </a:avLst>
          </a:prstGeom>
          <a:solidFill>
            <a:schemeClr val="bg2"/>
          </a:solidFill>
          <a:ln/>
        </p:spPr>
      </p:sp>
      <p:sp>
        <p:nvSpPr>
          <p:cNvPr id="17" name="Text 13"/>
          <p:cNvSpPr txBox="1"/>
          <p:nvPr/>
        </p:nvSpPr>
        <p:spPr>
          <a:xfrm>
            <a:off x="731520" y="4636008"/>
            <a:ext cx="3108960" cy="320040"/>
          </a:xfrm>
          <a:prstGeom prst="rect">
            <a:avLst/>
          </a:prstGeom>
          <a:noFill/>
          <a:ln/>
        </p:spPr>
        <p:txBody>
          <a:bodyPr wrap="square" lIns="0" tIns="0" rIns="0" bIns="0" rtlCol="0" anchor="t"/>
          <a:lstStyle/>
          <a:p>
            <a:pPr indent="0" marL="0">
              <a:buNone/>
            </a:pPr>
            <a:r>
              <a:rPr lang="en-US" sz="1600" b="1" dirty="0">
                <a:solidFill>
                  <a:schemeClr val="accent1"/>
                </a:solidFill>
              </a:rPr>
              <a:t>Why we did this</a:t>
            </a:r>
            <a:endParaRPr lang="en-US" sz="1600" dirty="0"/>
          </a:p>
        </p:txBody>
      </p:sp>
      <p:sp>
        <p:nvSpPr>
          <p:cNvPr id="18" name="Text 14"/>
          <p:cNvSpPr txBox="1"/>
          <p:nvPr/>
        </p:nvSpPr>
        <p:spPr>
          <a:xfrm>
            <a:off x="731520" y="5029200"/>
            <a:ext cx="3108960" cy="1097280"/>
          </a:xfrm>
          <a:prstGeom prst="rect">
            <a:avLst/>
          </a:prstGeom>
          <a:noFill/>
          <a:ln/>
        </p:spPr>
        <p:txBody>
          <a:bodyPr wrap="square" lIns="0" tIns="0" rIns="0" bIns="0" rtlCol="0" anchor="t"/>
          <a:lstStyle/>
          <a:p>
            <a:pPr indent="0" marL="0">
              <a:buNone/>
            </a:pPr>
            <a:r>
              <a:rPr lang="en-US" sz="1400" dirty="0">
                <a:solidFill>
                  <a:schemeClr val="tx1"/>
                </a:solidFill>
              </a:rPr>
              <a:t>Sensors are correlated. PCA reveals structure and tests whether fewer inputs predict as well.</a:t>
            </a:r>
            <a:endParaRPr lang="en-US" sz="1400" dirty="0"/>
          </a:p>
        </p:txBody>
      </p:sp>
      <p:sp>
        <p:nvSpPr>
          <p:cNvPr id="19" name="Card"/>
          <p:cNvSpPr/>
          <p:nvPr/>
        </p:nvSpPr>
        <p:spPr>
          <a:xfrm>
            <a:off x="4343400" y="4526280"/>
            <a:ext cx="3474720" cy="1691640"/>
          </a:xfrm>
          <a:prstGeom prst="roundRect">
            <a:avLst>
              <a:gd name="adj" fmla="val 5405"/>
            </a:avLst>
          </a:prstGeom>
          <a:solidFill>
            <a:schemeClr val="bg2"/>
          </a:solidFill>
          <a:ln/>
        </p:spPr>
      </p:sp>
      <p:sp>
        <p:nvSpPr>
          <p:cNvPr id="20" name="Text 16"/>
          <p:cNvSpPr txBox="1"/>
          <p:nvPr/>
        </p:nvSpPr>
        <p:spPr>
          <a:xfrm>
            <a:off x="4526280" y="4636008"/>
            <a:ext cx="3108960" cy="320040"/>
          </a:xfrm>
          <a:prstGeom prst="rect">
            <a:avLst/>
          </a:prstGeom>
          <a:noFill/>
          <a:ln/>
        </p:spPr>
        <p:txBody>
          <a:bodyPr wrap="square" lIns="0" tIns="0" rIns="0" bIns="0" rtlCol="0" anchor="t"/>
          <a:lstStyle/>
          <a:p>
            <a:pPr indent="0" marL="0">
              <a:buNone/>
            </a:pPr>
            <a:r>
              <a:rPr lang="en-US" sz="1600" b="1" dirty="0">
                <a:solidFill>
                  <a:schemeClr val="accent3"/>
                </a:solidFill>
              </a:rPr>
              <a:t>What we found</a:t>
            </a:r>
            <a:endParaRPr lang="en-US" sz="1600" dirty="0"/>
          </a:p>
        </p:txBody>
      </p:sp>
      <p:sp>
        <p:nvSpPr>
          <p:cNvPr id="21" name="Text 17"/>
          <p:cNvSpPr txBox="1"/>
          <p:nvPr/>
        </p:nvSpPr>
        <p:spPr>
          <a:xfrm>
            <a:off x="4526280" y="5029200"/>
            <a:ext cx="3108960" cy="1097280"/>
          </a:xfrm>
          <a:prstGeom prst="rect">
            <a:avLst/>
          </a:prstGeom>
          <a:noFill/>
          <a:ln/>
        </p:spPr>
        <p:txBody>
          <a:bodyPr wrap="square" lIns="0" tIns="0" rIns="0" bIns="0" rtlCol="0" anchor="t"/>
          <a:lstStyle/>
          <a:p>
            <a:pPr indent="0" marL="0">
              <a:buNone/>
            </a:pPr>
            <a:r>
              <a:rPr lang="en-US" sz="1400" dirty="0">
                <a:solidFill>
                  <a:schemeClr val="tx1"/>
                </a:solidFill>
              </a:rPr>
              <a:t>Two patterns explain 65.6% of sensor variation, but using PCA did not improve prediction.</a:t>
            </a:r>
            <a:endParaRPr lang="en-US" sz="1400" dirty="0"/>
          </a:p>
        </p:txBody>
      </p:sp>
      <p:sp>
        <p:nvSpPr>
          <p:cNvPr id="22" name="Card"/>
          <p:cNvSpPr/>
          <p:nvPr/>
        </p:nvSpPr>
        <p:spPr>
          <a:xfrm>
            <a:off x="8138160" y="4526280"/>
            <a:ext cx="3474720" cy="1691640"/>
          </a:xfrm>
          <a:prstGeom prst="roundRect">
            <a:avLst>
              <a:gd name="adj" fmla="val 5405"/>
            </a:avLst>
          </a:prstGeom>
          <a:solidFill>
            <a:schemeClr val="bg2"/>
          </a:solidFill>
          <a:ln/>
        </p:spPr>
      </p:sp>
      <p:sp>
        <p:nvSpPr>
          <p:cNvPr id="23" name="Text 19"/>
          <p:cNvSpPr txBox="1"/>
          <p:nvPr/>
        </p:nvSpPr>
        <p:spPr>
          <a:xfrm>
            <a:off x="8321040" y="4636008"/>
            <a:ext cx="3108960" cy="320040"/>
          </a:xfrm>
          <a:prstGeom prst="rect">
            <a:avLst/>
          </a:prstGeom>
          <a:noFill/>
          <a:ln/>
        </p:spPr>
        <p:txBody>
          <a:bodyPr wrap="square" lIns="0" tIns="0" rIns="0" bIns="0" rtlCol="0" anchor="t"/>
          <a:lstStyle/>
          <a:p>
            <a:pPr indent="0" marL="0">
              <a:buNone/>
            </a:pPr>
            <a:r>
              <a:rPr lang="en-US" sz="1600" b="1" dirty="0">
                <a:solidFill>
                  <a:schemeClr val="tx2"/>
                </a:solidFill>
              </a:rPr>
              <a:t>How it can help</a:t>
            </a:r>
            <a:endParaRPr lang="en-US" sz="1600" dirty="0"/>
          </a:p>
        </p:txBody>
      </p:sp>
      <p:sp>
        <p:nvSpPr>
          <p:cNvPr id="24" name="Text 20"/>
          <p:cNvSpPr txBox="1"/>
          <p:nvPr/>
        </p:nvSpPr>
        <p:spPr>
          <a:xfrm>
            <a:off x="8321040" y="5029200"/>
            <a:ext cx="3108960" cy="1097280"/>
          </a:xfrm>
          <a:prstGeom prst="rect">
            <a:avLst/>
          </a:prstGeom>
          <a:noFill/>
          <a:ln/>
        </p:spPr>
        <p:txBody>
          <a:bodyPr wrap="square" lIns="0" tIns="0" rIns="0" bIns="0" rtlCol="0" anchor="t"/>
          <a:lstStyle/>
          <a:p>
            <a:pPr indent="0" marL="0">
              <a:buNone/>
            </a:pPr>
            <a:r>
              <a:rPr lang="en-US" sz="1400" dirty="0">
                <a:solidFill>
                  <a:schemeClr val="tx1"/>
                </a:solidFill>
              </a:rPr>
              <a:t>Shows heavy sensor redundancy, so a cheaper setup with fewer sensors may be worth testing.</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400" b="1" dirty="0">
                <a:solidFill>
                  <a:schemeClr val="tx2"/>
                </a:solidFill>
              </a:rPr>
              <a:t>Machine Learning Models</a:t>
            </a:r>
            <a:endParaRPr lang="en-US" sz="3400" dirty="0"/>
          </a:p>
        </p:txBody>
      </p:sp>
      <p:sp>
        <p:nvSpPr>
          <p:cNvPr id="4" name="Card"/>
          <p:cNvSpPr/>
          <p:nvPr/>
        </p:nvSpPr>
        <p:spPr>
          <a:xfrm>
            <a:off x="548640" y="1280160"/>
            <a:ext cx="2057400" cy="2926080"/>
          </a:xfrm>
          <a:prstGeom prst="roundRect">
            <a:avLst>
              <a:gd name="adj" fmla="val 4444"/>
            </a:avLst>
          </a:prstGeom>
          <a:solidFill>
            <a:schemeClr val="bg2"/>
          </a:solidFill>
          <a:ln/>
        </p:spPr>
      </p:sp>
      <p:sp>
        <p:nvSpPr>
          <p:cNvPr id="5" name="Text 2"/>
          <p:cNvSpPr txBox="1"/>
          <p:nvPr/>
        </p:nvSpPr>
        <p:spPr>
          <a:xfrm>
            <a:off x="685800" y="1371600"/>
            <a:ext cx="1783080" cy="365760"/>
          </a:xfrm>
          <a:prstGeom prst="rect">
            <a:avLst/>
          </a:prstGeom>
          <a:noFill/>
          <a:ln/>
        </p:spPr>
        <p:txBody>
          <a:bodyPr wrap="square" lIns="0" tIns="0" rIns="0" bIns="0" rtlCol="0" anchor="t"/>
          <a:lstStyle/>
          <a:p>
            <a:pPr indent="0" marL="0">
              <a:buNone/>
            </a:pPr>
            <a:r>
              <a:rPr lang="en-US" sz="1600" b="1" dirty="0">
                <a:solidFill>
                  <a:schemeClr val="accent1"/>
                </a:solidFill>
              </a:rPr>
              <a:t>Baselines</a:t>
            </a:r>
            <a:endParaRPr lang="en-US" sz="1600" dirty="0"/>
          </a:p>
        </p:txBody>
      </p:sp>
      <p:sp>
        <p:nvSpPr>
          <p:cNvPr id="6" name="Text 3"/>
          <p:cNvSpPr txBox="1"/>
          <p:nvPr/>
        </p:nvSpPr>
        <p:spPr>
          <a:xfrm>
            <a:off x="685800" y="1783080"/>
            <a:ext cx="1783080" cy="1371600"/>
          </a:xfrm>
          <a:prstGeom prst="rect">
            <a:avLst/>
          </a:prstGeom>
          <a:noFill/>
          <a:ln/>
        </p:spPr>
        <p:txBody>
          <a:bodyPr wrap="square" lIns="0" tIns="0" rIns="0" bIns="0" rtlCol="0" anchor="t"/>
          <a:lstStyle/>
          <a:p>
            <a:pPr indent="0" marL="0">
              <a:buNone/>
            </a:pPr>
            <a:r>
              <a:rPr lang="en-US" sz="1400" dirty="0">
                <a:solidFill>
                  <a:schemeClr val="tx1"/>
                </a:solidFill>
              </a:rPr>
              <a:t>Simple rules: the overall average, or the average for that hour. Models must beat these.</a:t>
            </a:r>
            <a:endParaRPr lang="en-US" sz="1400" dirty="0"/>
          </a:p>
        </p:txBody>
      </p:sp>
      <p:sp>
        <p:nvSpPr>
          <p:cNvPr id="7" name="Text 4"/>
          <p:cNvSpPr txBox="1"/>
          <p:nvPr/>
        </p:nvSpPr>
        <p:spPr>
          <a:xfrm>
            <a:off x="685800" y="3200400"/>
            <a:ext cx="1783080" cy="457200"/>
          </a:xfrm>
          <a:prstGeom prst="rect">
            <a:avLst/>
          </a:prstGeom>
          <a:noFill/>
          <a:ln/>
        </p:spPr>
        <p:txBody>
          <a:bodyPr wrap="square" lIns="0" tIns="0" rIns="0" bIns="0" rtlCol="0" anchor="ctr"/>
          <a:lstStyle/>
          <a:p>
            <a:pPr indent="0" marL="0">
              <a:buNone/>
            </a:pPr>
            <a:r>
              <a:rPr lang="en-US" sz="1600" b="1" dirty="0">
                <a:solidFill>
                  <a:schemeClr val="tx2"/>
                </a:solidFill>
              </a:rPr>
              <a:t>91.053 | 85.482</a:t>
            </a:r>
            <a:endParaRPr lang="en-US" sz="1600" dirty="0"/>
          </a:p>
        </p:txBody>
      </p:sp>
      <p:sp>
        <p:nvSpPr>
          <p:cNvPr id="8" name="Text 5"/>
          <p:cNvSpPr txBox="1"/>
          <p:nvPr/>
        </p:nvSpPr>
        <p:spPr>
          <a:xfrm>
            <a:off x="685800" y="3657600"/>
            <a:ext cx="1783080" cy="457200"/>
          </a:xfrm>
          <a:prstGeom prst="rect">
            <a:avLst/>
          </a:prstGeom>
          <a:noFill/>
          <a:ln/>
        </p:spPr>
        <p:txBody>
          <a:bodyPr wrap="square" lIns="0" tIns="0" rIns="0" bIns="0" rtlCol="0" anchor="t"/>
          <a:lstStyle/>
          <a:p>
            <a:pPr indent="0" marL="0">
              <a:buNone/>
            </a:pPr>
            <a:r>
              <a:rPr lang="en-US" sz="1100" dirty="0">
                <a:solidFill>
                  <a:schemeClr val="accent5"/>
                </a:solidFill>
              </a:rPr>
              <a:t>average | hour rule error</a:t>
            </a:r>
            <a:endParaRPr lang="en-US" sz="1100" dirty="0"/>
          </a:p>
        </p:txBody>
      </p:sp>
      <p:sp>
        <p:nvSpPr>
          <p:cNvPr id="9" name="Card"/>
          <p:cNvSpPr/>
          <p:nvPr/>
        </p:nvSpPr>
        <p:spPr>
          <a:xfrm>
            <a:off x="2798064" y="1280160"/>
            <a:ext cx="2057400" cy="2926080"/>
          </a:xfrm>
          <a:prstGeom prst="roundRect">
            <a:avLst>
              <a:gd name="adj" fmla="val 4444"/>
            </a:avLst>
          </a:prstGeom>
          <a:solidFill>
            <a:schemeClr val="bg2"/>
          </a:solidFill>
          <a:ln/>
        </p:spPr>
      </p:sp>
      <p:sp>
        <p:nvSpPr>
          <p:cNvPr id="10" name="Text 7"/>
          <p:cNvSpPr txBox="1"/>
          <p:nvPr/>
        </p:nvSpPr>
        <p:spPr>
          <a:xfrm>
            <a:off x="2935224" y="1371600"/>
            <a:ext cx="1783080" cy="365760"/>
          </a:xfrm>
          <a:prstGeom prst="rect">
            <a:avLst/>
          </a:prstGeom>
          <a:noFill/>
          <a:ln/>
        </p:spPr>
        <p:txBody>
          <a:bodyPr wrap="square" lIns="0" tIns="0" rIns="0" bIns="0" rtlCol="0" anchor="t"/>
          <a:lstStyle/>
          <a:p>
            <a:pPr indent="0" marL="0">
              <a:buNone/>
            </a:pPr>
            <a:r>
              <a:rPr lang="en-US" sz="1600" b="1" dirty="0">
                <a:solidFill>
                  <a:schemeClr val="accent1"/>
                </a:solidFill>
              </a:rPr>
              <a:t>Ridge</a:t>
            </a:r>
            <a:endParaRPr lang="en-US" sz="1600" dirty="0"/>
          </a:p>
        </p:txBody>
      </p:sp>
      <p:sp>
        <p:nvSpPr>
          <p:cNvPr id="11" name="Text 8"/>
          <p:cNvSpPr txBox="1"/>
          <p:nvPr/>
        </p:nvSpPr>
        <p:spPr>
          <a:xfrm>
            <a:off x="2935224" y="1783080"/>
            <a:ext cx="1783080" cy="1371600"/>
          </a:xfrm>
          <a:prstGeom prst="rect">
            <a:avLst/>
          </a:prstGeom>
          <a:noFill/>
          <a:ln/>
        </p:spPr>
        <p:txBody>
          <a:bodyPr wrap="square" lIns="0" tIns="0" rIns="0" bIns="0" rtlCol="0" anchor="t"/>
          <a:lstStyle/>
          <a:p>
            <a:pPr indent="0" marL="0">
              <a:buNone/>
            </a:pPr>
            <a:r>
              <a:rPr lang="en-US" sz="1400" dirty="0">
                <a:solidFill>
                  <a:schemeClr val="tx1"/>
                </a:solidFill>
              </a:rPr>
              <a:t>A straight-line model. Simple to explain.</a:t>
            </a:r>
            <a:endParaRPr lang="en-US" sz="1400" dirty="0"/>
          </a:p>
        </p:txBody>
      </p:sp>
      <p:sp>
        <p:nvSpPr>
          <p:cNvPr id="12" name="Text 9"/>
          <p:cNvSpPr txBox="1"/>
          <p:nvPr/>
        </p:nvSpPr>
        <p:spPr>
          <a:xfrm>
            <a:off x="2935224" y="3200400"/>
            <a:ext cx="1783080" cy="457200"/>
          </a:xfrm>
          <a:prstGeom prst="rect">
            <a:avLst/>
          </a:prstGeom>
          <a:noFill/>
          <a:ln/>
        </p:spPr>
        <p:txBody>
          <a:bodyPr wrap="square" lIns="0" tIns="0" rIns="0" bIns="0" rtlCol="0" anchor="ctr"/>
          <a:lstStyle/>
          <a:p>
            <a:pPr indent="0" marL="0">
              <a:buNone/>
            </a:pPr>
            <a:r>
              <a:rPr lang="en-US" sz="2400" b="1" dirty="0">
                <a:solidFill>
                  <a:schemeClr val="tx2"/>
                </a:solidFill>
              </a:rPr>
              <a:t>87.366</a:t>
            </a:r>
            <a:endParaRPr lang="en-US" sz="2400" dirty="0"/>
          </a:p>
        </p:txBody>
      </p:sp>
      <p:sp>
        <p:nvSpPr>
          <p:cNvPr id="13" name="Text 10"/>
          <p:cNvSpPr txBox="1"/>
          <p:nvPr/>
        </p:nvSpPr>
        <p:spPr>
          <a:xfrm>
            <a:off x="2935224" y="3657600"/>
            <a:ext cx="1783080" cy="457200"/>
          </a:xfrm>
          <a:prstGeom prst="rect">
            <a:avLst/>
          </a:prstGeom>
          <a:noFill/>
          <a:ln/>
        </p:spPr>
        <p:txBody>
          <a:bodyPr wrap="square" lIns="0" tIns="0" rIns="0" bIns="0" rtlCol="0" anchor="t"/>
          <a:lstStyle/>
          <a:p>
            <a:pPr indent="0" marL="0">
              <a:buNone/>
            </a:pPr>
            <a:r>
              <a:rPr lang="en-US" sz="1100" dirty="0">
                <a:solidFill>
                  <a:schemeClr val="accent5"/>
                </a:solidFill>
              </a:rPr>
              <a:t>test error (Wh)</a:t>
            </a:r>
            <a:endParaRPr lang="en-US" sz="1100" dirty="0"/>
          </a:p>
        </p:txBody>
      </p:sp>
      <p:sp>
        <p:nvSpPr>
          <p:cNvPr id="14" name="Card"/>
          <p:cNvSpPr/>
          <p:nvPr/>
        </p:nvSpPr>
        <p:spPr>
          <a:xfrm>
            <a:off x="5047488" y="1280160"/>
            <a:ext cx="2057400" cy="2926080"/>
          </a:xfrm>
          <a:prstGeom prst="roundRect">
            <a:avLst>
              <a:gd name="adj" fmla="val 4444"/>
            </a:avLst>
          </a:prstGeom>
          <a:solidFill>
            <a:schemeClr val="bg2"/>
          </a:solidFill>
          <a:ln/>
        </p:spPr>
      </p:sp>
      <p:sp>
        <p:nvSpPr>
          <p:cNvPr id="15" name="Text 12"/>
          <p:cNvSpPr txBox="1"/>
          <p:nvPr/>
        </p:nvSpPr>
        <p:spPr>
          <a:xfrm>
            <a:off x="5184648" y="1371600"/>
            <a:ext cx="1783080" cy="365760"/>
          </a:xfrm>
          <a:prstGeom prst="rect">
            <a:avLst/>
          </a:prstGeom>
          <a:noFill/>
          <a:ln/>
        </p:spPr>
        <p:txBody>
          <a:bodyPr wrap="square" lIns="0" tIns="0" rIns="0" bIns="0" rtlCol="0" anchor="t"/>
          <a:lstStyle/>
          <a:p>
            <a:pPr indent="0" marL="0">
              <a:buNone/>
            </a:pPr>
            <a:r>
              <a:rPr lang="en-US" sz="1600" b="1" dirty="0">
                <a:solidFill>
                  <a:schemeClr val="accent1"/>
                </a:solidFill>
              </a:rPr>
              <a:t>Random Forest</a:t>
            </a:r>
            <a:endParaRPr lang="en-US" sz="1600" dirty="0"/>
          </a:p>
        </p:txBody>
      </p:sp>
      <p:sp>
        <p:nvSpPr>
          <p:cNvPr id="16" name="Text 13"/>
          <p:cNvSpPr txBox="1"/>
          <p:nvPr/>
        </p:nvSpPr>
        <p:spPr>
          <a:xfrm>
            <a:off x="5184648" y="1783080"/>
            <a:ext cx="1783080" cy="1371600"/>
          </a:xfrm>
          <a:prstGeom prst="rect">
            <a:avLst/>
          </a:prstGeom>
          <a:noFill/>
          <a:ln/>
        </p:spPr>
        <p:txBody>
          <a:bodyPr wrap="square" lIns="0" tIns="0" rIns="0" bIns="0" rtlCol="0" anchor="t"/>
          <a:lstStyle/>
          <a:p>
            <a:pPr indent="0" marL="0">
              <a:buNone/>
            </a:pPr>
            <a:r>
              <a:rPr lang="en-US" sz="1400" dirty="0">
                <a:solidFill>
                  <a:schemeClr val="tx1"/>
                </a:solidFill>
              </a:rPr>
              <a:t>Many decision trees voting together.</a:t>
            </a:r>
            <a:endParaRPr lang="en-US" sz="1400" dirty="0"/>
          </a:p>
        </p:txBody>
      </p:sp>
      <p:sp>
        <p:nvSpPr>
          <p:cNvPr id="17" name="Text 14"/>
          <p:cNvSpPr txBox="1"/>
          <p:nvPr/>
        </p:nvSpPr>
        <p:spPr>
          <a:xfrm>
            <a:off x="5184648" y="3200400"/>
            <a:ext cx="1783080" cy="457200"/>
          </a:xfrm>
          <a:prstGeom prst="rect">
            <a:avLst/>
          </a:prstGeom>
          <a:noFill/>
          <a:ln/>
        </p:spPr>
        <p:txBody>
          <a:bodyPr wrap="square" lIns="0" tIns="0" rIns="0" bIns="0" rtlCol="0" anchor="ctr"/>
          <a:lstStyle/>
          <a:p>
            <a:pPr indent="0" marL="0">
              <a:buNone/>
            </a:pPr>
            <a:r>
              <a:rPr lang="en-US" sz="2400" b="1" dirty="0">
                <a:solidFill>
                  <a:schemeClr val="accent4"/>
                </a:solidFill>
              </a:rPr>
              <a:t>109.943</a:t>
            </a:r>
            <a:endParaRPr lang="en-US" sz="2400" dirty="0"/>
          </a:p>
        </p:txBody>
      </p:sp>
      <p:sp>
        <p:nvSpPr>
          <p:cNvPr id="18" name="Text 15"/>
          <p:cNvSpPr txBox="1"/>
          <p:nvPr/>
        </p:nvSpPr>
        <p:spPr>
          <a:xfrm>
            <a:off x="5184648" y="3657600"/>
            <a:ext cx="1783080" cy="457200"/>
          </a:xfrm>
          <a:prstGeom prst="rect">
            <a:avLst/>
          </a:prstGeom>
          <a:noFill/>
          <a:ln/>
        </p:spPr>
        <p:txBody>
          <a:bodyPr wrap="square" lIns="0" tIns="0" rIns="0" bIns="0" rtlCol="0" anchor="t"/>
          <a:lstStyle/>
          <a:p>
            <a:pPr indent="0" marL="0">
              <a:buNone/>
            </a:pPr>
            <a:r>
              <a:rPr lang="en-US" sz="1100" dirty="0">
                <a:solidFill>
                  <a:schemeClr val="accent5"/>
                </a:solidFill>
              </a:rPr>
              <a:t>test error, untuned</a:t>
            </a:r>
            <a:endParaRPr lang="en-US" sz="1100" dirty="0"/>
          </a:p>
        </p:txBody>
      </p:sp>
      <p:sp>
        <p:nvSpPr>
          <p:cNvPr id="19" name="Card"/>
          <p:cNvSpPr/>
          <p:nvPr/>
        </p:nvSpPr>
        <p:spPr>
          <a:xfrm>
            <a:off x="7296912" y="1280160"/>
            <a:ext cx="2057400" cy="2926080"/>
          </a:xfrm>
          <a:prstGeom prst="roundRect">
            <a:avLst>
              <a:gd name="adj" fmla="val 4444"/>
            </a:avLst>
          </a:prstGeom>
          <a:solidFill>
            <a:schemeClr val="bg2"/>
          </a:solidFill>
          <a:ln/>
        </p:spPr>
      </p:sp>
      <p:sp>
        <p:nvSpPr>
          <p:cNvPr id="20" name="Text 17"/>
          <p:cNvSpPr txBox="1"/>
          <p:nvPr/>
        </p:nvSpPr>
        <p:spPr>
          <a:xfrm>
            <a:off x="7434072" y="1371600"/>
            <a:ext cx="1783080" cy="365760"/>
          </a:xfrm>
          <a:prstGeom prst="rect">
            <a:avLst/>
          </a:prstGeom>
          <a:noFill/>
          <a:ln/>
        </p:spPr>
        <p:txBody>
          <a:bodyPr wrap="square" lIns="0" tIns="0" rIns="0" bIns="0" rtlCol="0" anchor="t"/>
          <a:lstStyle/>
          <a:p>
            <a:pPr indent="0" marL="0">
              <a:buNone/>
            </a:pPr>
            <a:r>
              <a:rPr lang="en-US" sz="1600" b="1" dirty="0">
                <a:solidFill>
                  <a:schemeClr val="accent1"/>
                </a:solidFill>
              </a:rPr>
              <a:t>LightGBM</a:t>
            </a:r>
            <a:endParaRPr lang="en-US" sz="1600" dirty="0"/>
          </a:p>
        </p:txBody>
      </p:sp>
      <p:sp>
        <p:nvSpPr>
          <p:cNvPr id="21" name="Text 18"/>
          <p:cNvSpPr txBox="1"/>
          <p:nvPr/>
        </p:nvSpPr>
        <p:spPr>
          <a:xfrm>
            <a:off x="7434072" y="1783080"/>
            <a:ext cx="1783080" cy="1371600"/>
          </a:xfrm>
          <a:prstGeom prst="rect">
            <a:avLst/>
          </a:prstGeom>
          <a:noFill/>
          <a:ln/>
        </p:spPr>
        <p:txBody>
          <a:bodyPr wrap="square" lIns="0" tIns="0" rIns="0" bIns="0" rtlCol="0" anchor="t"/>
          <a:lstStyle/>
          <a:p>
            <a:pPr indent="0" marL="0">
              <a:buNone/>
            </a:pPr>
            <a:r>
              <a:rPr lang="en-US" sz="1400" dirty="0">
                <a:solidFill>
                  <a:schemeClr val="tx1"/>
                </a:solidFill>
              </a:rPr>
              <a:t>Trees that learn from each other’s mistakes.</a:t>
            </a:r>
            <a:endParaRPr lang="en-US" sz="1400" dirty="0"/>
          </a:p>
        </p:txBody>
      </p:sp>
      <p:sp>
        <p:nvSpPr>
          <p:cNvPr id="22" name="Text 19"/>
          <p:cNvSpPr txBox="1"/>
          <p:nvPr/>
        </p:nvSpPr>
        <p:spPr>
          <a:xfrm>
            <a:off x="7434072" y="3200400"/>
            <a:ext cx="1783080" cy="457200"/>
          </a:xfrm>
          <a:prstGeom prst="rect">
            <a:avLst/>
          </a:prstGeom>
          <a:noFill/>
          <a:ln/>
        </p:spPr>
        <p:txBody>
          <a:bodyPr wrap="square" lIns="0" tIns="0" rIns="0" bIns="0" rtlCol="0" anchor="ctr"/>
          <a:lstStyle/>
          <a:p>
            <a:pPr indent="0" marL="0">
              <a:buNone/>
            </a:pPr>
            <a:r>
              <a:rPr lang="en-US" sz="2400" b="1" dirty="0">
                <a:solidFill>
                  <a:schemeClr val="accent4"/>
                </a:solidFill>
              </a:rPr>
              <a:t>95.567</a:t>
            </a:r>
            <a:endParaRPr lang="en-US" sz="2400" dirty="0"/>
          </a:p>
        </p:txBody>
      </p:sp>
      <p:sp>
        <p:nvSpPr>
          <p:cNvPr id="23" name="Text 20"/>
          <p:cNvSpPr txBox="1"/>
          <p:nvPr/>
        </p:nvSpPr>
        <p:spPr>
          <a:xfrm>
            <a:off x="7434072" y="3657600"/>
            <a:ext cx="1783080" cy="457200"/>
          </a:xfrm>
          <a:prstGeom prst="rect">
            <a:avLst/>
          </a:prstGeom>
          <a:noFill/>
          <a:ln/>
        </p:spPr>
        <p:txBody>
          <a:bodyPr wrap="square" lIns="0" tIns="0" rIns="0" bIns="0" rtlCol="0" anchor="t"/>
          <a:lstStyle/>
          <a:p>
            <a:pPr indent="0" marL="0">
              <a:buNone/>
            </a:pPr>
            <a:r>
              <a:rPr lang="en-US" sz="1100" dirty="0">
                <a:solidFill>
                  <a:schemeClr val="accent5"/>
                </a:solidFill>
              </a:rPr>
              <a:t>test error, untuned</a:t>
            </a:r>
            <a:endParaRPr lang="en-US" sz="1100" dirty="0"/>
          </a:p>
        </p:txBody>
      </p:sp>
      <p:sp>
        <p:nvSpPr>
          <p:cNvPr id="24" name="Card"/>
          <p:cNvSpPr/>
          <p:nvPr/>
        </p:nvSpPr>
        <p:spPr>
          <a:xfrm>
            <a:off x="9546336" y="1280160"/>
            <a:ext cx="2057400" cy="2926080"/>
          </a:xfrm>
          <a:prstGeom prst="roundRect">
            <a:avLst>
              <a:gd name="adj" fmla="val 4444"/>
            </a:avLst>
          </a:prstGeom>
          <a:solidFill>
            <a:schemeClr val="bg2"/>
          </a:solidFill>
          <a:ln/>
        </p:spPr>
      </p:sp>
      <p:sp>
        <p:nvSpPr>
          <p:cNvPr id="25" name="Text 22"/>
          <p:cNvSpPr txBox="1"/>
          <p:nvPr/>
        </p:nvSpPr>
        <p:spPr>
          <a:xfrm>
            <a:off x="9683496" y="1371600"/>
            <a:ext cx="1783080" cy="365760"/>
          </a:xfrm>
          <a:prstGeom prst="rect">
            <a:avLst/>
          </a:prstGeom>
          <a:noFill/>
          <a:ln/>
        </p:spPr>
        <p:txBody>
          <a:bodyPr wrap="square" lIns="0" tIns="0" rIns="0" bIns="0" rtlCol="0" anchor="t"/>
          <a:lstStyle/>
          <a:p>
            <a:pPr indent="0" marL="0">
              <a:buNone/>
            </a:pPr>
            <a:r>
              <a:rPr lang="en-US" sz="1600" b="1" dirty="0">
                <a:solidFill>
                  <a:schemeClr val="accent1"/>
                </a:solidFill>
              </a:rPr>
              <a:t>AutoML</a:t>
            </a:r>
            <a:endParaRPr lang="en-US" sz="1600" dirty="0"/>
          </a:p>
        </p:txBody>
      </p:sp>
      <p:sp>
        <p:nvSpPr>
          <p:cNvPr id="26" name="Text 23"/>
          <p:cNvSpPr txBox="1"/>
          <p:nvPr/>
        </p:nvSpPr>
        <p:spPr>
          <a:xfrm>
            <a:off x="9683496" y="1783080"/>
            <a:ext cx="1783080" cy="1371600"/>
          </a:xfrm>
          <a:prstGeom prst="rect">
            <a:avLst/>
          </a:prstGeom>
          <a:noFill/>
          <a:ln/>
        </p:spPr>
        <p:txBody>
          <a:bodyPr wrap="square" lIns="0" tIns="0" rIns="0" bIns="0" rtlCol="0" anchor="t"/>
          <a:lstStyle/>
          <a:p>
            <a:pPr indent="0" marL="0">
              <a:buNone/>
            </a:pPr>
            <a:r>
              <a:rPr lang="en-US" sz="1400" dirty="0">
                <a:solidFill>
                  <a:schemeClr val="tx1"/>
                </a:solidFill>
              </a:rPr>
              <a:t>Software that tries several models and picks one (Extra Trees).</a:t>
            </a:r>
            <a:endParaRPr lang="en-US" sz="1400" dirty="0"/>
          </a:p>
        </p:txBody>
      </p:sp>
      <p:sp>
        <p:nvSpPr>
          <p:cNvPr id="27" name="Text 24"/>
          <p:cNvSpPr txBox="1"/>
          <p:nvPr/>
        </p:nvSpPr>
        <p:spPr>
          <a:xfrm>
            <a:off x="9683496" y="3200400"/>
            <a:ext cx="1783080" cy="457200"/>
          </a:xfrm>
          <a:prstGeom prst="rect">
            <a:avLst/>
          </a:prstGeom>
          <a:noFill/>
          <a:ln/>
        </p:spPr>
        <p:txBody>
          <a:bodyPr wrap="square" lIns="0" tIns="0" rIns="0" bIns="0" rtlCol="0" anchor="ctr"/>
          <a:lstStyle/>
          <a:p>
            <a:pPr indent="0" marL="0">
              <a:buNone/>
            </a:pPr>
            <a:r>
              <a:rPr lang="en-US" sz="2400" b="1" dirty="0">
                <a:solidFill>
                  <a:schemeClr val="tx2"/>
                </a:solidFill>
              </a:rPr>
              <a:t>85.447</a:t>
            </a:r>
            <a:endParaRPr lang="en-US" sz="2400" dirty="0"/>
          </a:p>
        </p:txBody>
      </p:sp>
      <p:sp>
        <p:nvSpPr>
          <p:cNvPr id="28" name="Text 25"/>
          <p:cNvSpPr txBox="1"/>
          <p:nvPr/>
        </p:nvSpPr>
        <p:spPr>
          <a:xfrm>
            <a:off x="9683496" y="3657600"/>
            <a:ext cx="1783080" cy="457200"/>
          </a:xfrm>
          <a:prstGeom prst="rect">
            <a:avLst/>
          </a:prstGeom>
          <a:noFill/>
          <a:ln/>
        </p:spPr>
        <p:txBody>
          <a:bodyPr wrap="square" lIns="0" tIns="0" rIns="0" bIns="0" rtlCol="0" anchor="t"/>
          <a:lstStyle/>
          <a:p>
            <a:pPr indent="0" marL="0">
              <a:buNone/>
            </a:pPr>
            <a:r>
              <a:rPr lang="en-US" sz="1100" dirty="0">
                <a:solidFill>
                  <a:schemeClr val="accent5"/>
                </a:solidFill>
              </a:rPr>
              <a:t>test error (Wh)</a:t>
            </a:r>
            <a:endParaRPr lang="en-US" sz="1100" dirty="0"/>
          </a:p>
        </p:txBody>
      </p:sp>
      <p:sp>
        <p:nvSpPr>
          <p:cNvPr id="29" name="Card"/>
          <p:cNvSpPr/>
          <p:nvPr/>
        </p:nvSpPr>
        <p:spPr>
          <a:xfrm>
            <a:off x="548640" y="4389120"/>
            <a:ext cx="3474720" cy="1828800"/>
          </a:xfrm>
          <a:prstGeom prst="roundRect">
            <a:avLst>
              <a:gd name="adj" fmla="val 5000"/>
            </a:avLst>
          </a:prstGeom>
          <a:solidFill>
            <a:schemeClr val="bg2"/>
          </a:solidFill>
          <a:ln/>
        </p:spPr>
      </p:sp>
      <p:sp>
        <p:nvSpPr>
          <p:cNvPr id="30" name="Text 27"/>
          <p:cNvSpPr txBox="1"/>
          <p:nvPr/>
        </p:nvSpPr>
        <p:spPr>
          <a:xfrm>
            <a:off x="731520" y="4498848"/>
            <a:ext cx="3108960" cy="320040"/>
          </a:xfrm>
          <a:prstGeom prst="rect">
            <a:avLst/>
          </a:prstGeom>
          <a:noFill/>
          <a:ln/>
        </p:spPr>
        <p:txBody>
          <a:bodyPr wrap="square" lIns="0" tIns="0" rIns="0" bIns="0" rtlCol="0" anchor="t"/>
          <a:lstStyle/>
          <a:p>
            <a:pPr indent="0" marL="0">
              <a:buNone/>
            </a:pPr>
            <a:r>
              <a:rPr lang="en-US" sz="1600" b="1" dirty="0">
                <a:solidFill>
                  <a:schemeClr val="accent1"/>
                </a:solidFill>
              </a:rPr>
              <a:t>Why we did this</a:t>
            </a:r>
            <a:endParaRPr lang="en-US" sz="1600" dirty="0"/>
          </a:p>
        </p:txBody>
      </p:sp>
      <p:sp>
        <p:nvSpPr>
          <p:cNvPr id="31" name="Text 28"/>
          <p:cNvSpPr txBox="1"/>
          <p:nvPr/>
        </p:nvSpPr>
        <p:spPr>
          <a:xfrm>
            <a:off x="731520" y="4892040"/>
            <a:ext cx="3108960" cy="1234440"/>
          </a:xfrm>
          <a:prstGeom prst="rect">
            <a:avLst/>
          </a:prstGeom>
          <a:noFill/>
          <a:ln/>
        </p:spPr>
        <p:txBody>
          <a:bodyPr wrap="square" lIns="0" tIns="0" rIns="0" bIns="0" rtlCol="0" anchor="t"/>
          <a:lstStyle/>
          <a:p>
            <a:pPr indent="0" marL="0">
              <a:buNone/>
            </a:pPr>
            <a:r>
              <a:rPr lang="en-US" sz="1400" dirty="0">
                <a:solidFill>
                  <a:schemeClr val="tx1"/>
                </a:solidFill>
              </a:rPr>
              <a:t>Comparing simple and advanced models shows whether extra complexity is actually worth it.</a:t>
            </a:r>
            <a:endParaRPr lang="en-US" sz="1400" dirty="0"/>
          </a:p>
        </p:txBody>
      </p:sp>
      <p:sp>
        <p:nvSpPr>
          <p:cNvPr id="32" name="Card"/>
          <p:cNvSpPr/>
          <p:nvPr/>
        </p:nvSpPr>
        <p:spPr>
          <a:xfrm>
            <a:off x="4343400" y="4389120"/>
            <a:ext cx="3474720" cy="1828800"/>
          </a:xfrm>
          <a:prstGeom prst="roundRect">
            <a:avLst>
              <a:gd name="adj" fmla="val 5000"/>
            </a:avLst>
          </a:prstGeom>
          <a:solidFill>
            <a:schemeClr val="bg2"/>
          </a:solidFill>
          <a:ln/>
        </p:spPr>
      </p:sp>
      <p:sp>
        <p:nvSpPr>
          <p:cNvPr id="33" name="Text 30"/>
          <p:cNvSpPr txBox="1"/>
          <p:nvPr/>
        </p:nvSpPr>
        <p:spPr>
          <a:xfrm>
            <a:off x="4526280" y="4498848"/>
            <a:ext cx="3108960" cy="320040"/>
          </a:xfrm>
          <a:prstGeom prst="rect">
            <a:avLst/>
          </a:prstGeom>
          <a:noFill/>
          <a:ln/>
        </p:spPr>
        <p:txBody>
          <a:bodyPr wrap="square" lIns="0" tIns="0" rIns="0" bIns="0" rtlCol="0" anchor="t"/>
          <a:lstStyle/>
          <a:p>
            <a:pPr indent="0" marL="0">
              <a:buNone/>
            </a:pPr>
            <a:r>
              <a:rPr lang="en-US" sz="1600" b="1" dirty="0">
                <a:solidFill>
                  <a:schemeClr val="accent3"/>
                </a:solidFill>
              </a:rPr>
              <a:t>What we found</a:t>
            </a:r>
            <a:endParaRPr lang="en-US" sz="1600" dirty="0"/>
          </a:p>
        </p:txBody>
      </p:sp>
      <p:sp>
        <p:nvSpPr>
          <p:cNvPr id="34" name="Text 31"/>
          <p:cNvSpPr txBox="1"/>
          <p:nvPr/>
        </p:nvSpPr>
        <p:spPr>
          <a:xfrm>
            <a:off x="4526280" y="4892040"/>
            <a:ext cx="3108960" cy="1234440"/>
          </a:xfrm>
          <a:prstGeom prst="rect">
            <a:avLst/>
          </a:prstGeom>
          <a:noFill/>
          <a:ln/>
        </p:spPr>
        <p:txBody>
          <a:bodyPr wrap="square" lIns="0" tIns="0" rIns="0" bIns="0" rtlCol="0" anchor="t"/>
          <a:lstStyle/>
          <a:p>
            <a:pPr indent="0" marL="0">
              <a:buNone/>
            </a:pPr>
            <a:r>
              <a:rPr lang="en-US" sz="1400" dirty="0">
                <a:solidFill>
                  <a:schemeClr val="tx1"/>
                </a:solidFill>
              </a:rPr>
              <a:t>Untuned Random Forest and LightGBM did worse than just predicting the average (91.053 Wh error).</a:t>
            </a:r>
            <a:endParaRPr lang="en-US" sz="1400" dirty="0"/>
          </a:p>
        </p:txBody>
      </p:sp>
      <p:sp>
        <p:nvSpPr>
          <p:cNvPr id="35" name="Card"/>
          <p:cNvSpPr/>
          <p:nvPr/>
        </p:nvSpPr>
        <p:spPr>
          <a:xfrm>
            <a:off x="8138160" y="4389120"/>
            <a:ext cx="3474720" cy="1828800"/>
          </a:xfrm>
          <a:prstGeom prst="roundRect">
            <a:avLst>
              <a:gd name="adj" fmla="val 5000"/>
            </a:avLst>
          </a:prstGeom>
          <a:solidFill>
            <a:schemeClr val="bg2"/>
          </a:solidFill>
          <a:ln/>
        </p:spPr>
      </p:sp>
      <p:sp>
        <p:nvSpPr>
          <p:cNvPr id="36" name="Text 33"/>
          <p:cNvSpPr txBox="1"/>
          <p:nvPr/>
        </p:nvSpPr>
        <p:spPr>
          <a:xfrm>
            <a:off x="8321040" y="4498848"/>
            <a:ext cx="3108960" cy="320040"/>
          </a:xfrm>
          <a:prstGeom prst="rect">
            <a:avLst/>
          </a:prstGeom>
          <a:noFill/>
          <a:ln/>
        </p:spPr>
        <p:txBody>
          <a:bodyPr wrap="square" lIns="0" tIns="0" rIns="0" bIns="0" rtlCol="0" anchor="t"/>
          <a:lstStyle/>
          <a:p>
            <a:pPr indent="0" marL="0">
              <a:buNone/>
            </a:pPr>
            <a:r>
              <a:rPr lang="en-US" sz="1600" b="1" dirty="0">
                <a:solidFill>
                  <a:schemeClr val="tx2"/>
                </a:solidFill>
              </a:rPr>
              <a:t>How it can help</a:t>
            </a:r>
            <a:endParaRPr lang="en-US" sz="1600" dirty="0"/>
          </a:p>
        </p:txBody>
      </p:sp>
      <p:sp>
        <p:nvSpPr>
          <p:cNvPr id="37" name="Text 34"/>
          <p:cNvSpPr txBox="1"/>
          <p:nvPr/>
        </p:nvSpPr>
        <p:spPr>
          <a:xfrm>
            <a:off x="8321040" y="4892040"/>
            <a:ext cx="3108960" cy="1234440"/>
          </a:xfrm>
          <a:prstGeom prst="rect">
            <a:avLst/>
          </a:prstGeom>
          <a:noFill/>
          <a:ln/>
        </p:spPr>
        <p:txBody>
          <a:bodyPr wrap="square" lIns="0" tIns="0" rIns="0" bIns="0" rtlCol="0" anchor="t"/>
          <a:lstStyle/>
          <a:p>
            <a:pPr indent="0" marL="0">
              <a:buNone/>
            </a:pPr>
            <a:r>
              <a:rPr lang="en-US" sz="1400" dirty="0">
                <a:solidFill>
                  <a:schemeClr val="tx1"/>
                </a:solidFill>
              </a:rPr>
              <a:t>Starting from baselines protects against choosing an impressive model that adds nothing.</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400" b="1" dirty="0">
                <a:solidFill>
                  <a:schemeClr val="tx2"/>
                </a:solidFill>
              </a:rPr>
              <a:t>Tuning and Model Evaluation</a:t>
            </a:r>
            <a:endParaRPr lang="en-US" sz="3400" dirty="0"/>
          </a:p>
        </p:txBody>
      </p:sp>
      <p:graphicFrame>
        <p:nvGraphicFramePr>
          <p:cNvPr id="4" name="Chart 0" descr=""/>
          <p:cNvGraphicFramePr/>
          <p:nvPr/>
        </p:nvGraphicFramePr>
        <p:xfrm>
          <a:off x="548640" y="1234440"/>
          <a:ext cx="5852160" cy="310896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548640" y="4343400"/>
            <a:ext cx="5852160" cy="228600"/>
          </a:xfrm>
          <a:prstGeom prst="rect">
            <a:avLst/>
          </a:prstGeom>
          <a:noFill/>
          <a:ln/>
        </p:spPr>
        <p:txBody>
          <a:bodyPr wrap="square" lIns="0" tIns="0" rIns="0" bIns="0" rtlCol="0" anchor="t"/>
          <a:lstStyle/>
          <a:p>
            <a:pPr indent="0" marL="0">
              <a:buNone/>
            </a:pPr>
            <a:r>
              <a:rPr lang="en-US" sz="1100" i="1" dirty="0">
                <a:solidFill>
                  <a:schemeClr val="accent5"/>
                </a:solidFill>
              </a:rPr>
              <a:t>Grey = baselines; orange-red = worse than the average.</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75120" y="1325880"/>
          <a:ext cx="4937760" cy="914400"/>
        </p:xfrm>
        <a:graphic>
          <a:graphicData uri="http://schemas.openxmlformats.org/drawingml/2006/table">
            <a:tbl>
              <a:tblPr/>
              <a:tblGrid>
                <a:gridCol w="2194560"/>
                <a:gridCol w="914400"/>
                <a:gridCol w="914400"/>
                <a:gridCol w="914400"/>
              </a:tblGrid>
              <a:tr h="301752">
                <a:tc>
                  <a:txBody>
                    <a:bodyPr/>
                    <a:lstStyle/>
                    <a:p>
                      <a:pPr algn="l" indent="0" marL="0">
                        <a:buNone/>
                      </a:pPr>
                      <a:r>
                        <a:rPr lang="en-US" sz="1200" b="1" dirty="0">
                          <a:solidFill>
                            <a:srgbClr val="FFFFFF"/>
                          </a:solidFill>
                        </a:rPr>
                        <a:t>Model</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F2A43"/>
                    </a:solidFill>
                  </a:tcPr>
                </a:tc>
                <a:tc>
                  <a:txBody>
                    <a:bodyPr/>
                    <a:lstStyle/>
                    <a:p>
                      <a:pPr algn="l" indent="0" marL="0">
                        <a:buNone/>
                      </a:pPr>
                      <a:r>
                        <a:rPr lang="en-US" sz="1200" b="1" dirty="0">
                          <a:solidFill>
                            <a:srgbClr val="FFFFFF"/>
                          </a:solidFill>
                        </a:rPr>
                        <a:t>RMSE</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F2A43"/>
                    </a:solidFill>
                  </a:tcPr>
                </a:tc>
                <a:tc>
                  <a:txBody>
                    <a:bodyPr/>
                    <a:lstStyle/>
                    <a:p>
                      <a:pPr algn="l" indent="0" marL="0">
                        <a:buNone/>
                      </a:pPr>
                      <a:r>
                        <a:rPr lang="en-US" sz="1200" b="1" dirty="0">
                          <a:solidFill>
                            <a:srgbClr val="FFFFFF"/>
                          </a:solidFill>
                        </a:rPr>
                        <a:t>MAE</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F2A43"/>
                    </a:solidFill>
                  </a:tcPr>
                </a:tc>
                <a:tc>
                  <a:txBody>
                    <a:bodyPr/>
                    <a:lstStyle/>
                    <a:p>
                      <a:pPr algn="l" indent="0" marL="0">
                        <a:buNone/>
                      </a:pPr>
                      <a:r>
                        <a:rPr lang="en-US" sz="1200" b="1" dirty="0">
                          <a:solidFill>
                            <a:srgbClr val="FFFFFF"/>
                          </a:solidFill>
                        </a:rPr>
                        <a:t>R²</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F2A43"/>
                    </a:solidFill>
                  </a:tcPr>
                </a:tc>
              </a:tr>
              <a:tr h="301752">
                <a:tc>
                  <a:txBody>
                    <a:bodyPr/>
                    <a:lstStyle/>
                    <a:p>
                      <a:pPr algn="l" indent="0" marL="0">
                        <a:buNone/>
                      </a:pPr>
                      <a:r>
                        <a:rPr lang="en-US" sz="1200" b="1" dirty="0">
                          <a:solidFill>
                            <a:srgbClr val="1B2A38"/>
                          </a:solidFill>
                        </a:rPr>
                        <a:t>Random Forest (tuned)</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200" b="1" dirty="0">
                          <a:solidFill>
                            <a:srgbClr val="1B2A38"/>
                          </a:solidFill>
                        </a:rPr>
                        <a:t>84.513</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200" b="1" dirty="0">
                          <a:solidFill>
                            <a:srgbClr val="1B2A38"/>
                          </a:solidFill>
                        </a:rPr>
                        <a:t>44.184</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200" b="1" dirty="0">
                          <a:solidFill>
                            <a:srgbClr val="1B2A38"/>
                          </a:solidFill>
                        </a:rPr>
                        <a:t>0.138</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r>
              <a:tr h="301752">
                <a:tc>
                  <a:txBody>
                    <a:bodyPr/>
                    <a:lstStyle/>
                    <a:p>
                      <a:pPr algn="l" indent="0" marL="0">
                        <a:buNone/>
                      </a:pPr>
                      <a:r>
                        <a:rPr lang="en-US" sz="1200" b="1" dirty="0">
                          <a:solidFill>
                            <a:srgbClr val="1B2A38"/>
                          </a:solidFill>
                        </a:rPr>
                        <a:t>AutoML (Extra Trees)</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B2A38"/>
                          </a:solidFill>
                        </a:rPr>
                        <a:t>85.447</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B2A38"/>
                          </a:solidFill>
                        </a:rPr>
                        <a:t>43.867</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B2A38"/>
                          </a:solidFill>
                        </a:rPr>
                        <a:t>0.119</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301752">
                <a:tc>
                  <a:txBody>
                    <a:bodyPr/>
                    <a:lstStyle/>
                    <a:p>
                      <a:pPr algn="l" indent="0" marL="0">
                        <a:buNone/>
                      </a:pPr>
                      <a:r>
                        <a:rPr lang="en-US" sz="1200" dirty="0">
                          <a:solidFill>
                            <a:srgbClr val="1B2A38"/>
                          </a:solidFill>
                        </a:rPr>
                        <a:t>Hour-of-day baseline</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B2A38"/>
                          </a:solidFill>
                        </a:rPr>
                        <a:t>85.482</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B2A38"/>
                          </a:solidFill>
                        </a:rPr>
                        <a:t>46.947</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B2A38"/>
                          </a:solidFill>
                        </a:rPr>
                        <a:t>0.118</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r>
              <a:tr h="301752">
                <a:tc>
                  <a:txBody>
                    <a:bodyPr/>
                    <a:lstStyle/>
                    <a:p>
                      <a:pPr algn="l" indent="0" marL="0">
                        <a:buNone/>
                      </a:pPr>
                      <a:r>
                        <a:rPr lang="en-US" sz="1200" dirty="0">
                          <a:solidFill>
                            <a:srgbClr val="1B2A38"/>
                          </a:solidFill>
                        </a:rPr>
                        <a:t>LightGBM (tuned)</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38"/>
                          </a:solidFill>
                        </a:rPr>
                        <a:t>86.807</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38"/>
                          </a:solidFill>
                        </a:rPr>
                        <a:t>47.315</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38"/>
                          </a:solidFill>
                        </a:rPr>
                        <a:t>0.091</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301752">
                <a:tc>
                  <a:txBody>
                    <a:bodyPr/>
                    <a:lstStyle/>
                    <a:p>
                      <a:pPr algn="l" indent="0" marL="0">
                        <a:buNone/>
                      </a:pPr>
                      <a:r>
                        <a:rPr lang="en-US" sz="1200" dirty="0">
                          <a:solidFill>
                            <a:srgbClr val="1B2A38"/>
                          </a:solidFill>
                        </a:rPr>
                        <a:t>Ridge (default)</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B2A38"/>
                          </a:solidFill>
                        </a:rPr>
                        <a:t>87.366</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B2A38"/>
                          </a:solidFill>
                        </a:rPr>
                        <a:t>49.388</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B2A38"/>
                          </a:solidFill>
                        </a:rPr>
                        <a:t>0.079</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r>
              <a:tr h="301752">
                <a:tc>
                  <a:txBody>
                    <a:bodyPr/>
                    <a:lstStyle/>
                    <a:p>
                      <a:pPr algn="l" indent="0" marL="0">
                        <a:buNone/>
                      </a:pPr>
                      <a:r>
                        <a:rPr lang="en-US" sz="1200" dirty="0">
                          <a:solidFill>
                            <a:srgbClr val="1B2A38"/>
                          </a:solidFill>
                        </a:rPr>
                        <a:t>Ridge (tuned)</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38"/>
                          </a:solidFill>
                        </a:rPr>
                        <a:t>87.777</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38"/>
                          </a:solidFill>
                        </a:rPr>
                        <a:t>52.865</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38"/>
                          </a:solidFill>
                        </a:rPr>
                        <a:t>0.07</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301752">
                <a:tc>
                  <a:txBody>
                    <a:bodyPr/>
                    <a:lstStyle/>
                    <a:p>
                      <a:pPr algn="l" indent="0" marL="0">
                        <a:buNone/>
                      </a:pPr>
                      <a:r>
                        <a:rPr lang="en-US" sz="1200" dirty="0">
                          <a:solidFill>
                            <a:srgbClr val="1B2A38"/>
                          </a:solidFill>
                        </a:rPr>
                        <a:t>Mean baseline</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B2A38"/>
                          </a:solidFill>
                        </a:rPr>
                        <a:t>91.053</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B2A38"/>
                          </a:solidFill>
                        </a:rPr>
                        <a:t>52.685</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B2A38"/>
                          </a:solidFill>
                        </a:rPr>
                        <a:t>-0.000</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r>
              <a:tr h="301752">
                <a:tc>
                  <a:txBody>
                    <a:bodyPr/>
                    <a:lstStyle/>
                    <a:p>
                      <a:pPr algn="l" indent="0" marL="0">
                        <a:buNone/>
                      </a:pPr>
                      <a:r>
                        <a:rPr lang="en-US" sz="1200" dirty="0">
                          <a:solidFill>
                            <a:srgbClr val="1B2A38"/>
                          </a:solidFill>
                        </a:rPr>
                        <a:t>LightGBM (default)</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38"/>
                          </a:solidFill>
                        </a:rPr>
                        <a:t>95.567</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38"/>
                          </a:solidFill>
                        </a:rPr>
                        <a:t>56.696</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38"/>
                          </a:solidFill>
                        </a:rPr>
                        <a:t>-0.102</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301752">
                <a:tc>
                  <a:txBody>
                    <a:bodyPr/>
                    <a:lstStyle/>
                    <a:p>
                      <a:pPr algn="l" indent="0" marL="0">
                        <a:buNone/>
                      </a:pPr>
                      <a:r>
                        <a:rPr lang="en-US" sz="1200" dirty="0">
                          <a:solidFill>
                            <a:srgbClr val="1B2A38"/>
                          </a:solidFill>
                        </a:rPr>
                        <a:t>Random Forest (default)</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B2A38"/>
                          </a:solidFill>
                        </a:rPr>
                        <a:t>109.943</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B2A38"/>
                          </a:solidFill>
                        </a:rPr>
                        <a:t>72.211</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B2A38"/>
                          </a:solidFill>
                        </a:rPr>
                        <a:t>-0.458</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r>
            </a:tbl>
          </a:graphicData>
        </a:graphic>
      </p:graphicFrame>
      <p:sp>
        <p:nvSpPr>
          <p:cNvPr id="7" name="Card"/>
          <p:cNvSpPr/>
          <p:nvPr/>
        </p:nvSpPr>
        <p:spPr>
          <a:xfrm>
            <a:off x="548640" y="4663440"/>
            <a:ext cx="3474720" cy="1600200"/>
          </a:xfrm>
          <a:prstGeom prst="roundRect">
            <a:avLst>
              <a:gd name="adj" fmla="val 5714"/>
            </a:avLst>
          </a:prstGeom>
          <a:solidFill>
            <a:schemeClr val="bg2"/>
          </a:solidFill>
          <a:ln/>
        </p:spPr>
      </p:sp>
      <p:sp>
        <p:nvSpPr>
          <p:cNvPr id="8" name="Text 3"/>
          <p:cNvSpPr txBox="1"/>
          <p:nvPr/>
        </p:nvSpPr>
        <p:spPr>
          <a:xfrm>
            <a:off x="731520" y="4773168"/>
            <a:ext cx="3108960" cy="320040"/>
          </a:xfrm>
          <a:prstGeom prst="rect">
            <a:avLst/>
          </a:prstGeom>
          <a:noFill/>
          <a:ln/>
        </p:spPr>
        <p:txBody>
          <a:bodyPr wrap="square" lIns="0" tIns="0" rIns="0" bIns="0" rtlCol="0" anchor="t"/>
          <a:lstStyle/>
          <a:p>
            <a:pPr indent="0" marL="0">
              <a:buNone/>
            </a:pPr>
            <a:r>
              <a:rPr lang="en-US" sz="1600" b="1" dirty="0">
                <a:solidFill>
                  <a:schemeClr val="accent1"/>
                </a:solidFill>
              </a:rPr>
              <a:t>Why we did this</a:t>
            </a:r>
            <a:endParaRPr lang="en-US" sz="1600" dirty="0"/>
          </a:p>
        </p:txBody>
      </p:sp>
      <p:sp>
        <p:nvSpPr>
          <p:cNvPr id="9" name="Text 4"/>
          <p:cNvSpPr txBox="1"/>
          <p:nvPr/>
        </p:nvSpPr>
        <p:spPr>
          <a:xfrm>
            <a:off x="731520" y="5166360"/>
            <a:ext cx="3108960" cy="1005840"/>
          </a:xfrm>
          <a:prstGeom prst="rect">
            <a:avLst/>
          </a:prstGeom>
          <a:noFill/>
          <a:ln/>
        </p:spPr>
        <p:txBody>
          <a:bodyPr wrap="square" lIns="0" tIns="0" rIns="0" bIns="0" rtlCol="0" anchor="t"/>
          <a:lstStyle/>
          <a:p>
            <a:pPr indent="0" marL="0">
              <a:buNone/>
            </a:pPr>
            <a:r>
              <a:rPr lang="en-US" sz="1400" dirty="0">
                <a:solidFill>
                  <a:schemeClr val="tx1"/>
                </a:solidFill>
              </a:rPr>
              <a:t>Tuning tunes model settings. RMSE and MAE are average errors (lower is better); R² is variation explained (higher).</a:t>
            </a:r>
            <a:endParaRPr lang="en-US" sz="1400" dirty="0"/>
          </a:p>
        </p:txBody>
      </p:sp>
      <p:sp>
        <p:nvSpPr>
          <p:cNvPr id="10" name="Card"/>
          <p:cNvSpPr/>
          <p:nvPr/>
        </p:nvSpPr>
        <p:spPr>
          <a:xfrm>
            <a:off x="4343400" y="4663440"/>
            <a:ext cx="3474720" cy="1600200"/>
          </a:xfrm>
          <a:prstGeom prst="roundRect">
            <a:avLst>
              <a:gd name="adj" fmla="val 5714"/>
            </a:avLst>
          </a:prstGeom>
          <a:solidFill>
            <a:schemeClr val="bg2"/>
          </a:solidFill>
          <a:ln/>
        </p:spPr>
      </p:sp>
      <p:sp>
        <p:nvSpPr>
          <p:cNvPr id="11" name="Text 6"/>
          <p:cNvSpPr txBox="1"/>
          <p:nvPr/>
        </p:nvSpPr>
        <p:spPr>
          <a:xfrm>
            <a:off x="4526280" y="4773168"/>
            <a:ext cx="3108960" cy="320040"/>
          </a:xfrm>
          <a:prstGeom prst="rect">
            <a:avLst/>
          </a:prstGeom>
          <a:noFill/>
          <a:ln/>
        </p:spPr>
        <p:txBody>
          <a:bodyPr wrap="square" lIns="0" tIns="0" rIns="0" bIns="0" rtlCol="0" anchor="t"/>
          <a:lstStyle/>
          <a:p>
            <a:pPr indent="0" marL="0">
              <a:buNone/>
            </a:pPr>
            <a:r>
              <a:rPr lang="en-US" sz="1600" b="1" dirty="0">
                <a:solidFill>
                  <a:schemeClr val="accent3"/>
                </a:solidFill>
              </a:rPr>
              <a:t>What we found</a:t>
            </a:r>
            <a:endParaRPr lang="en-US" sz="1600" dirty="0"/>
          </a:p>
        </p:txBody>
      </p:sp>
      <p:sp>
        <p:nvSpPr>
          <p:cNvPr id="12" name="Text 7"/>
          <p:cNvSpPr txBox="1"/>
          <p:nvPr/>
        </p:nvSpPr>
        <p:spPr>
          <a:xfrm>
            <a:off x="4526280" y="5166360"/>
            <a:ext cx="3108960" cy="1005840"/>
          </a:xfrm>
          <a:prstGeom prst="rect">
            <a:avLst/>
          </a:prstGeom>
          <a:noFill/>
          <a:ln/>
        </p:spPr>
        <p:txBody>
          <a:bodyPr wrap="square" lIns="0" tIns="0" rIns="0" bIns="0" rtlCol="0" anchor="t"/>
          <a:lstStyle/>
          <a:p>
            <a:pPr indent="0" marL="0">
              <a:buNone/>
            </a:pPr>
            <a:r>
              <a:rPr lang="en-US" sz="1400" dirty="0">
                <a:solidFill>
                  <a:schemeClr val="tx1"/>
                </a:solidFill>
              </a:rPr>
              <a:t>Tuned Random Forest was best (84.513 Wh), but R² is only 0.138: weather and time alone explain little.</a:t>
            </a:r>
            <a:endParaRPr lang="en-US" sz="1400" dirty="0"/>
          </a:p>
        </p:txBody>
      </p:sp>
      <p:sp>
        <p:nvSpPr>
          <p:cNvPr id="13" name="Card"/>
          <p:cNvSpPr/>
          <p:nvPr/>
        </p:nvSpPr>
        <p:spPr>
          <a:xfrm>
            <a:off x="8138160" y="4663440"/>
            <a:ext cx="3474720" cy="1600200"/>
          </a:xfrm>
          <a:prstGeom prst="roundRect">
            <a:avLst>
              <a:gd name="adj" fmla="val 5714"/>
            </a:avLst>
          </a:prstGeom>
          <a:solidFill>
            <a:schemeClr val="bg2"/>
          </a:solidFill>
          <a:ln/>
        </p:spPr>
      </p:sp>
      <p:sp>
        <p:nvSpPr>
          <p:cNvPr id="14" name="Text 9"/>
          <p:cNvSpPr txBox="1"/>
          <p:nvPr/>
        </p:nvSpPr>
        <p:spPr>
          <a:xfrm>
            <a:off x="8321040" y="4773168"/>
            <a:ext cx="3108960" cy="320040"/>
          </a:xfrm>
          <a:prstGeom prst="rect">
            <a:avLst/>
          </a:prstGeom>
          <a:noFill/>
          <a:ln/>
        </p:spPr>
        <p:txBody>
          <a:bodyPr wrap="square" lIns="0" tIns="0" rIns="0" bIns="0" rtlCol="0" anchor="t"/>
          <a:lstStyle/>
          <a:p>
            <a:pPr indent="0" marL="0">
              <a:buNone/>
            </a:pPr>
            <a:r>
              <a:rPr lang="en-US" sz="1600" b="1" dirty="0">
                <a:solidFill>
                  <a:schemeClr val="tx2"/>
                </a:solidFill>
              </a:rPr>
              <a:t>How it can help</a:t>
            </a:r>
            <a:endParaRPr lang="en-US" sz="1600" dirty="0"/>
          </a:p>
        </p:txBody>
      </p:sp>
      <p:sp>
        <p:nvSpPr>
          <p:cNvPr id="15" name="Text 10"/>
          <p:cNvSpPr txBox="1"/>
          <p:nvPr/>
        </p:nvSpPr>
        <p:spPr>
          <a:xfrm>
            <a:off x="8321040" y="5166360"/>
            <a:ext cx="3108960" cy="1005840"/>
          </a:xfrm>
          <a:prstGeom prst="rect">
            <a:avLst/>
          </a:prstGeom>
          <a:noFill/>
          <a:ln/>
        </p:spPr>
        <p:txBody>
          <a:bodyPr wrap="square" lIns="0" tIns="0" rIns="0" bIns="0" rtlCol="0" anchor="t"/>
          <a:lstStyle/>
          <a:p>
            <a:pPr indent="0" marL="0">
              <a:buNone/>
            </a:pPr>
            <a:r>
              <a:rPr lang="en-US" sz="1400" dirty="0">
                <a:solidFill>
                  <a:schemeClr val="tx1"/>
                </a:solidFill>
              </a:rPr>
              <a:t>Sets realistic expectations: fine for rough planning, not for precise 10-minute prediction.</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400" b="1" dirty="0">
                <a:solidFill>
                  <a:schemeClr val="tx2"/>
                </a:solidFill>
              </a:rPr>
              <a:t>Explainable AI</a:t>
            </a:r>
            <a:endParaRPr lang="en-US" sz="3400" dirty="0"/>
          </a:p>
        </p:txBody>
      </p:sp>
      <p:pic>
        <p:nvPicPr>
          <p:cNvPr id="4" name="Image 0" descr="SHAP importance chart for the tuned LightGBM model">    </p:cNvPr>
          <p:cNvPicPr>
            <a:picLocks noChangeAspect="1"/>
          </p:cNvPicPr>
          <p:nvPr/>
        </p:nvPicPr>
        <p:blipFill>
          <a:blip r:embed="rId1"/>
          <a:stretch>
            <a:fillRect/>
          </a:stretch>
        </p:blipFill>
        <p:spPr>
          <a:xfrm>
            <a:off x="548640" y="1280160"/>
            <a:ext cx="3154680" cy="3108960"/>
          </a:xfrm>
          <a:prstGeom prst="rect">
            <a:avLst/>
          </a:prstGeom>
        </p:spPr>
      </p:pic>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023360" y="1325880"/>
          <a:ext cx="7589520" cy="914400"/>
        </p:xfrm>
        <a:graphic>
          <a:graphicData uri="http://schemas.openxmlformats.org/drawingml/2006/table">
            <a:tbl>
              <a:tblPr/>
              <a:tblGrid>
                <a:gridCol w="2377440"/>
                <a:gridCol w="5212080"/>
              </a:tblGrid>
              <a:tr h="457200">
                <a:tc>
                  <a:txBody>
                    <a:bodyPr/>
                    <a:lstStyle/>
                    <a:p>
                      <a:pPr algn="l" indent="0" marL="0">
                        <a:buNone/>
                      </a:pPr>
                      <a:r>
                        <a:rPr lang="en-US" sz="1200" b="1" dirty="0">
                          <a:solidFill>
                            <a:srgbClr val="FFFFFF"/>
                          </a:solidFill>
                        </a:rPr>
                        <a:t>Top input (SHAP)</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F2A43"/>
                    </a:solidFill>
                  </a:tcPr>
                </a:tc>
                <a:tc>
                  <a:txBody>
                    <a:bodyPr/>
                    <a:lstStyle/>
                    <a:p>
                      <a:pPr algn="l" indent="0" marL="0">
                        <a:buNone/>
                      </a:pPr>
                      <a:r>
                        <a:rPr lang="en-US" sz="1200" b="1" dirty="0">
                          <a:solidFill>
                            <a:srgbClr val="FFFFFF"/>
                          </a:solidFill>
                        </a:rPr>
                        <a:t>In plain words</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F2A43"/>
                    </a:solidFill>
                  </a:tcPr>
                </a:tc>
              </a:tr>
              <a:tr h="457200">
                <a:tc>
                  <a:txBody>
                    <a:bodyPr/>
                    <a:lstStyle/>
                    <a:p>
                      <a:pPr algn="l" indent="0" marL="0">
                        <a:buNone/>
                      </a:pPr>
                      <a:r>
                        <a:rPr lang="en-US" sz="1200" dirty="0">
                          <a:solidFill>
                            <a:srgbClr val="1B2A38"/>
                          </a:solidFill>
                        </a:rPr>
                        <a:t>hour</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B2A38"/>
                          </a:solidFill>
                        </a:rPr>
                        <a:t>Time of day</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r>
              <a:tr h="457200">
                <a:tc>
                  <a:txBody>
                    <a:bodyPr/>
                    <a:lstStyle/>
                    <a:p>
                      <a:pPr algn="l" indent="0" marL="0">
                        <a:buNone/>
                      </a:pPr>
                      <a:r>
                        <a:rPr lang="en-US" sz="1200" dirty="0">
                          <a:solidFill>
                            <a:srgbClr val="1B2A38"/>
                          </a:solidFill>
                        </a:rPr>
                        <a:t>hour_sin</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38"/>
                          </a:solidFill>
                        </a:rPr>
                        <a:t>Time of day (circular clock)</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B2A38"/>
                          </a:solidFill>
                        </a:rPr>
                        <a:t>lights</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B2A38"/>
                          </a:solidFill>
                        </a:rPr>
                        <a:t>Lighting energy use</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r>
              <a:tr h="457200">
                <a:tc>
                  <a:txBody>
                    <a:bodyPr/>
                    <a:lstStyle/>
                    <a:p>
                      <a:pPr algn="l" indent="0" marL="0">
                        <a:buNone/>
                      </a:pPr>
                      <a:r>
                        <a:rPr lang="en-US" sz="1200" dirty="0">
                          <a:solidFill>
                            <a:srgbClr val="1B2A38"/>
                          </a:solidFill>
                        </a:rPr>
                        <a:t>T_diff</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38"/>
                          </a:solidFill>
                        </a:rPr>
                        <a:t>Indoor minus outdoor temperature</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B2A38"/>
                          </a:solidFill>
                        </a:rPr>
                        <a:t>RH_2</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B2A38"/>
                          </a:solidFill>
                        </a:rPr>
                        <a:t>Humidity sensor 2</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r>
            </a:tbl>
          </a:graphicData>
        </a:graphic>
      </p:graphicFrame>
      <p:sp>
        <p:nvSpPr>
          <p:cNvPr id="6" name="Text 1"/>
          <p:cNvSpPr txBox="1"/>
          <p:nvPr/>
        </p:nvSpPr>
        <p:spPr>
          <a:xfrm>
            <a:off x="4023360" y="4160520"/>
            <a:ext cx="7589520" cy="274320"/>
          </a:xfrm>
          <a:prstGeom prst="rect">
            <a:avLst/>
          </a:prstGeom>
          <a:noFill/>
          <a:ln/>
        </p:spPr>
        <p:txBody>
          <a:bodyPr wrap="square" lIns="0" tIns="0" rIns="0" bIns="0" rtlCol="0" anchor="t"/>
          <a:lstStyle/>
          <a:p>
            <a:pPr indent="0" marL="0">
              <a:buNone/>
            </a:pPr>
            <a:r>
              <a:rPr lang="en-US" sz="1100" i="1" dirty="0">
                <a:solidFill>
                  <a:schemeClr val="accent5"/>
                </a:solidFill>
              </a:rPr>
              <a:t>Chart: notebook SHAP figure for the tuned LightGBM model.</a:t>
            </a:r>
            <a:endParaRPr lang="en-US" sz="1100" dirty="0"/>
          </a:p>
        </p:txBody>
      </p:sp>
      <p:sp>
        <p:nvSpPr>
          <p:cNvPr id="7" name="Card"/>
          <p:cNvSpPr/>
          <p:nvPr/>
        </p:nvSpPr>
        <p:spPr>
          <a:xfrm>
            <a:off x="548640" y="4572000"/>
            <a:ext cx="3474720" cy="1691640"/>
          </a:xfrm>
          <a:prstGeom prst="roundRect">
            <a:avLst>
              <a:gd name="adj" fmla="val 5405"/>
            </a:avLst>
          </a:prstGeom>
          <a:solidFill>
            <a:schemeClr val="bg2"/>
          </a:solidFill>
          <a:ln/>
        </p:spPr>
      </p:sp>
      <p:sp>
        <p:nvSpPr>
          <p:cNvPr id="8" name="Text 3"/>
          <p:cNvSpPr txBox="1"/>
          <p:nvPr/>
        </p:nvSpPr>
        <p:spPr>
          <a:xfrm>
            <a:off x="731520" y="4681728"/>
            <a:ext cx="3108960" cy="320040"/>
          </a:xfrm>
          <a:prstGeom prst="rect">
            <a:avLst/>
          </a:prstGeom>
          <a:noFill/>
          <a:ln/>
        </p:spPr>
        <p:txBody>
          <a:bodyPr wrap="square" lIns="0" tIns="0" rIns="0" bIns="0" rtlCol="0" anchor="t"/>
          <a:lstStyle/>
          <a:p>
            <a:pPr indent="0" marL="0">
              <a:buNone/>
            </a:pPr>
            <a:r>
              <a:rPr lang="en-US" sz="1600" b="1" dirty="0">
                <a:solidFill>
                  <a:schemeClr val="accent1"/>
                </a:solidFill>
              </a:rPr>
              <a:t>Why we did this</a:t>
            </a:r>
            <a:endParaRPr lang="en-US" sz="1600" dirty="0"/>
          </a:p>
        </p:txBody>
      </p:sp>
      <p:sp>
        <p:nvSpPr>
          <p:cNvPr id="9" name="Text 4"/>
          <p:cNvSpPr txBox="1"/>
          <p:nvPr/>
        </p:nvSpPr>
        <p:spPr>
          <a:xfrm>
            <a:off x="731520" y="5074920"/>
            <a:ext cx="3108960" cy="1097280"/>
          </a:xfrm>
          <a:prstGeom prst="rect">
            <a:avLst/>
          </a:prstGeom>
          <a:noFill/>
          <a:ln/>
        </p:spPr>
        <p:txBody>
          <a:bodyPr wrap="square" lIns="0" tIns="0" rIns="0" bIns="0" rtlCol="0" anchor="t"/>
          <a:lstStyle/>
          <a:p>
            <a:pPr indent="0" marL="0">
              <a:buNone/>
            </a:pPr>
            <a:r>
              <a:rPr lang="en-US" sz="1400" dirty="0">
                <a:solidFill>
                  <a:schemeClr val="tx1"/>
                </a:solidFill>
              </a:rPr>
              <a:t>Explainable AI opens the black box by showing which inputs push a prediction up or down.</a:t>
            </a:r>
            <a:endParaRPr lang="en-US" sz="1400" dirty="0"/>
          </a:p>
        </p:txBody>
      </p:sp>
      <p:sp>
        <p:nvSpPr>
          <p:cNvPr id="10" name="Card"/>
          <p:cNvSpPr/>
          <p:nvPr/>
        </p:nvSpPr>
        <p:spPr>
          <a:xfrm>
            <a:off x="4343400" y="4572000"/>
            <a:ext cx="3474720" cy="1691640"/>
          </a:xfrm>
          <a:prstGeom prst="roundRect">
            <a:avLst>
              <a:gd name="adj" fmla="val 5405"/>
            </a:avLst>
          </a:prstGeom>
          <a:solidFill>
            <a:schemeClr val="bg2"/>
          </a:solidFill>
          <a:ln/>
        </p:spPr>
      </p:sp>
      <p:sp>
        <p:nvSpPr>
          <p:cNvPr id="11" name="Text 6"/>
          <p:cNvSpPr txBox="1"/>
          <p:nvPr/>
        </p:nvSpPr>
        <p:spPr>
          <a:xfrm>
            <a:off x="4526280" y="4681728"/>
            <a:ext cx="3108960" cy="320040"/>
          </a:xfrm>
          <a:prstGeom prst="rect">
            <a:avLst/>
          </a:prstGeom>
          <a:noFill/>
          <a:ln/>
        </p:spPr>
        <p:txBody>
          <a:bodyPr wrap="square" lIns="0" tIns="0" rIns="0" bIns="0" rtlCol="0" anchor="t"/>
          <a:lstStyle/>
          <a:p>
            <a:pPr indent="0" marL="0">
              <a:buNone/>
            </a:pPr>
            <a:r>
              <a:rPr lang="en-US" sz="1600" b="1" dirty="0">
                <a:solidFill>
                  <a:schemeClr val="accent3"/>
                </a:solidFill>
              </a:rPr>
              <a:t>What we found</a:t>
            </a:r>
            <a:endParaRPr lang="en-US" sz="1600" dirty="0"/>
          </a:p>
        </p:txBody>
      </p:sp>
      <p:sp>
        <p:nvSpPr>
          <p:cNvPr id="12" name="Text 7"/>
          <p:cNvSpPr txBox="1"/>
          <p:nvPr/>
        </p:nvSpPr>
        <p:spPr>
          <a:xfrm>
            <a:off x="4526280" y="5074920"/>
            <a:ext cx="3108960" cy="1097280"/>
          </a:xfrm>
          <a:prstGeom prst="rect">
            <a:avLst/>
          </a:prstGeom>
          <a:noFill/>
          <a:ln/>
        </p:spPr>
        <p:txBody>
          <a:bodyPr wrap="square" lIns="0" tIns="0" rIns="0" bIns="0" rtlCol="0" anchor="t"/>
          <a:lstStyle/>
          <a:p>
            <a:pPr indent="0" marL="0">
              <a:buNone/>
            </a:pPr>
            <a:r>
              <a:rPr lang="en-US" sz="1400" dirty="0">
                <a:solidFill>
                  <a:schemeClr val="tx1"/>
                </a:solidFill>
              </a:rPr>
              <a:t>Time of day, lighting and the indoor-outdoor temperature gap matter most; methods only partly agree.</a:t>
            </a:r>
            <a:endParaRPr lang="en-US" sz="1400" dirty="0"/>
          </a:p>
        </p:txBody>
      </p:sp>
      <p:sp>
        <p:nvSpPr>
          <p:cNvPr id="13" name="Card"/>
          <p:cNvSpPr/>
          <p:nvPr/>
        </p:nvSpPr>
        <p:spPr>
          <a:xfrm>
            <a:off x="8138160" y="4572000"/>
            <a:ext cx="3474720" cy="1691640"/>
          </a:xfrm>
          <a:prstGeom prst="roundRect">
            <a:avLst>
              <a:gd name="adj" fmla="val 5405"/>
            </a:avLst>
          </a:prstGeom>
          <a:solidFill>
            <a:schemeClr val="bg2"/>
          </a:solidFill>
          <a:ln/>
        </p:spPr>
      </p:sp>
      <p:sp>
        <p:nvSpPr>
          <p:cNvPr id="14" name="Text 9"/>
          <p:cNvSpPr txBox="1"/>
          <p:nvPr/>
        </p:nvSpPr>
        <p:spPr>
          <a:xfrm>
            <a:off x="8321040" y="4681728"/>
            <a:ext cx="3108960" cy="320040"/>
          </a:xfrm>
          <a:prstGeom prst="rect">
            <a:avLst/>
          </a:prstGeom>
          <a:noFill/>
          <a:ln/>
        </p:spPr>
        <p:txBody>
          <a:bodyPr wrap="square" lIns="0" tIns="0" rIns="0" bIns="0" rtlCol="0" anchor="t"/>
          <a:lstStyle/>
          <a:p>
            <a:pPr indent="0" marL="0">
              <a:buNone/>
            </a:pPr>
            <a:r>
              <a:rPr lang="en-US" sz="1600" b="1" dirty="0">
                <a:solidFill>
                  <a:schemeClr val="tx2"/>
                </a:solidFill>
              </a:rPr>
              <a:t>How it can help</a:t>
            </a:r>
            <a:endParaRPr lang="en-US" sz="1600" dirty="0"/>
          </a:p>
        </p:txBody>
      </p:sp>
      <p:sp>
        <p:nvSpPr>
          <p:cNvPr id="15" name="Text 10"/>
          <p:cNvSpPr txBox="1"/>
          <p:nvPr/>
        </p:nvSpPr>
        <p:spPr>
          <a:xfrm>
            <a:off x="8321040" y="5074920"/>
            <a:ext cx="3108960" cy="1097280"/>
          </a:xfrm>
          <a:prstGeom prst="rect">
            <a:avLst/>
          </a:prstGeom>
          <a:noFill/>
          <a:ln/>
        </p:spPr>
        <p:txBody>
          <a:bodyPr wrap="square" lIns="0" tIns="0" rIns="0" bIns="0" rtlCol="0" anchor="t"/>
          <a:lstStyle/>
          <a:p>
            <a:pPr indent="0" marL="0">
              <a:buNone/>
            </a:pPr>
            <a:r>
              <a:rPr lang="en-US" sz="1400" dirty="0">
                <a:solidFill>
                  <a:schemeClr val="tx1"/>
                </a:solidFill>
              </a:rPr>
              <a:t>Shows when and why demand rises, but describes the model, not what causes energy use.</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400" b="1" dirty="0">
                <a:solidFill>
                  <a:schemeClr val="tx2"/>
                </a:solidFill>
              </a:rPr>
              <a:t>Anomaly Detection</a:t>
            </a:r>
            <a:endParaRPr lang="en-US" sz="3400" dirty="0"/>
          </a:p>
        </p:txBody>
      </p:sp>
      <p:pic>
        <p:nvPicPr>
          <p:cNvPr id="4" name="Image 0" descr="Test-period consumption with flagged readings">    </p:cNvPr>
          <p:cNvPicPr>
            <a:picLocks noChangeAspect="1"/>
          </p:cNvPicPr>
          <p:nvPr/>
        </p:nvPicPr>
        <p:blipFill>
          <a:blip r:embed="rId1"/>
          <a:stretch>
            <a:fillRect/>
          </a:stretch>
        </p:blipFill>
        <p:spPr>
          <a:xfrm>
            <a:off x="548640" y="1280160"/>
            <a:ext cx="7132320" cy="2130552"/>
          </a:xfrm>
          <a:prstGeom prst="rect">
            <a:avLst/>
          </a:prstGeom>
        </p:spPr>
      </p:pic>
      <p:sp>
        <p:nvSpPr>
          <p:cNvPr id="5" name="Text 1"/>
          <p:cNvSpPr txBox="1"/>
          <p:nvPr/>
        </p:nvSpPr>
        <p:spPr>
          <a:xfrm>
            <a:off x="548640" y="3456432"/>
            <a:ext cx="7132320" cy="228600"/>
          </a:xfrm>
          <a:prstGeom prst="rect">
            <a:avLst/>
          </a:prstGeom>
          <a:noFill/>
          <a:ln/>
        </p:spPr>
        <p:txBody>
          <a:bodyPr wrap="square" lIns="0" tIns="0" rIns="0" bIns="0" rtlCol="0" anchor="t"/>
          <a:lstStyle/>
          <a:p>
            <a:pPr indent="0" marL="0">
              <a:buNone/>
            </a:pPr>
            <a:r>
              <a:rPr lang="en-US" sz="1100" i="1" dirty="0">
                <a:solidFill>
                  <a:schemeClr val="accent5"/>
                </a:solidFill>
              </a:rPr>
              <a:t>Red = large prediction error; orange x = unusual conditions (notebook figure).</a:t>
            </a:r>
            <a:endParaRPr lang="en-US" sz="1100" dirty="0"/>
          </a:p>
        </p:txBody>
      </p:sp>
      <p:sp>
        <p:nvSpPr>
          <p:cNvPr id="6" name="Card"/>
          <p:cNvSpPr/>
          <p:nvPr/>
        </p:nvSpPr>
        <p:spPr>
          <a:xfrm>
            <a:off x="548640" y="3749040"/>
            <a:ext cx="7132320" cy="685800"/>
          </a:xfrm>
          <a:prstGeom prst="roundRect">
            <a:avLst>
              <a:gd name="adj" fmla="val 13333"/>
            </a:avLst>
          </a:prstGeom>
          <a:solidFill>
            <a:srgbClr val="FDF1D6"/>
          </a:solidFill>
          <a:ln/>
        </p:spPr>
      </p:sp>
      <p:sp>
        <p:nvSpPr>
          <p:cNvPr id="7" name="Text 3"/>
          <p:cNvSpPr txBox="1"/>
          <p:nvPr/>
        </p:nvSpPr>
        <p:spPr>
          <a:xfrm>
            <a:off x="731520" y="3749040"/>
            <a:ext cx="6766560" cy="685800"/>
          </a:xfrm>
          <a:prstGeom prst="rect">
            <a:avLst/>
          </a:prstGeom>
          <a:noFill/>
          <a:ln/>
        </p:spPr>
        <p:txBody>
          <a:bodyPr wrap="square" lIns="0" tIns="0" rIns="0" bIns="0" rtlCol="0" anchor="ctr"/>
          <a:lstStyle/>
          <a:p>
            <a:pPr indent="0" marL="0">
              <a:buNone/>
            </a:pPr>
            <a:r>
              <a:rPr lang="en-US" sz="1500" b="1" dirty="0">
                <a:solidFill>
                  <a:schemeClr val="tx2"/>
                </a:solidFill>
              </a:rPr>
              <a:t>Example: 26 May, 16:40. Actual 850 Wh, predicted 73.8 Wh.</a:t>
            </a:r>
            <a:endParaRPr lang="en-US" sz="1500" dirty="0"/>
          </a:p>
        </p:txBody>
      </p:sp>
      <p:sp>
        <p:nvSpPr>
          <p:cNvPr id="8" name="Card"/>
          <p:cNvSpPr/>
          <p:nvPr/>
        </p:nvSpPr>
        <p:spPr>
          <a:xfrm>
            <a:off x="8046720" y="1280160"/>
            <a:ext cx="3566160" cy="914400"/>
          </a:xfrm>
          <a:prstGeom prst="roundRect">
            <a:avLst>
              <a:gd name="adj" fmla="val 10000"/>
            </a:avLst>
          </a:prstGeom>
          <a:solidFill>
            <a:schemeClr val="bg2"/>
          </a:solidFill>
          <a:ln/>
        </p:spPr>
      </p:sp>
      <p:sp>
        <p:nvSpPr>
          <p:cNvPr id="9" name="Text 5"/>
          <p:cNvSpPr txBox="1"/>
          <p:nvPr/>
        </p:nvSpPr>
        <p:spPr>
          <a:xfrm>
            <a:off x="8183880" y="1389888"/>
            <a:ext cx="3291840" cy="457200"/>
          </a:xfrm>
          <a:prstGeom prst="rect">
            <a:avLst/>
          </a:prstGeom>
          <a:noFill/>
          <a:ln/>
        </p:spPr>
        <p:txBody>
          <a:bodyPr wrap="square" lIns="0" tIns="0" rIns="0" bIns="0" rtlCol="0" anchor="ctr"/>
          <a:lstStyle/>
          <a:p>
            <a:pPr indent="0" marL="0">
              <a:buNone/>
            </a:pPr>
            <a:r>
              <a:rPr lang="en-US" sz="2800" b="1" dirty="0">
                <a:solidFill>
                  <a:schemeClr val="tx2"/>
                </a:solidFill>
              </a:rPr>
              <a:t>313 (7.9 %)</a:t>
            </a:r>
            <a:endParaRPr lang="en-US" sz="2800" dirty="0"/>
          </a:p>
        </p:txBody>
      </p:sp>
      <p:sp>
        <p:nvSpPr>
          <p:cNvPr id="10" name="Text 6"/>
          <p:cNvSpPr txBox="1"/>
          <p:nvPr/>
        </p:nvSpPr>
        <p:spPr>
          <a:xfrm>
            <a:off x="8183880" y="1847088"/>
            <a:ext cx="3291840" cy="365760"/>
          </a:xfrm>
          <a:prstGeom prst="rect">
            <a:avLst/>
          </a:prstGeom>
          <a:noFill/>
          <a:ln/>
        </p:spPr>
        <p:txBody>
          <a:bodyPr wrap="square" lIns="0" tIns="0" rIns="0" bIns="0" rtlCol="0" anchor="t"/>
          <a:lstStyle/>
          <a:p>
            <a:pPr indent="0" marL="0">
              <a:buNone/>
            </a:pPr>
            <a:r>
              <a:rPr lang="en-US" sz="1200" dirty="0">
                <a:solidFill>
                  <a:schemeClr val="accent5"/>
                </a:solidFill>
              </a:rPr>
              <a:t>large prediction error</a:t>
            </a:r>
            <a:endParaRPr lang="en-US" sz="1200" dirty="0"/>
          </a:p>
        </p:txBody>
      </p:sp>
      <p:sp>
        <p:nvSpPr>
          <p:cNvPr id="11" name="Card"/>
          <p:cNvSpPr/>
          <p:nvPr/>
        </p:nvSpPr>
        <p:spPr>
          <a:xfrm>
            <a:off x="8046720" y="2331720"/>
            <a:ext cx="3566160" cy="914400"/>
          </a:xfrm>
          <a:prstGeom prst="roundRect">
            <a:avLst>
              <a:gd name="adj" fmla="val 10000"/>
            </a:avLst>
          </a:prstGeom>
          <a:solidFill>
            <a:schemeClr val="bg2"/>
          </a:solidFill>
          <a:ln/>
        </p:spPr>
      </p:sp>
      <p:sp>
        <p:nvSpPr>
          <p:cNvPr id="12" name="Text 8"/>
          <p:cNvSpPr txBox="1"/>
          <p:nvPr/>
        </p:nvSpPr>
        <p:spPr>
          <a:xfrm>
            <a:off x="8183880" y="2441448"/>
            <a:ext cx="3291840" cy="457200"/>
          </a:xfrm>
          <a:prstGeom prst="rect">
            <a:avLst/>
          </a:prstGeom>
          <a:noFill/>
          <a:ln/>
        </p:spPr>
        <p:txBody>
          <a:bodyPr wrap="square" lIns="0" tIns="0" rIns="0" bIns="0" rtlCol="0" anchor="ctr"/>
          <a:lstStyle/>
          <a:p>
            <a:pPr indent="0" marL="0">
              <a:buNone/>
            </a:pPr>
            <a:r>
              <a:rPr lang="en-US" sz="2800" b="1" dirty="0">
                <a:solidFill>
                  <a:schemeClr val="tx2"/>
                </a:solidFill>
              </a:rPr>
              <a:t>79 (2.0 %)</a:t>
            </a:r>
            <a:endParaRPr lang="en-US" sz="2800" dirty="0"/>
          </a:p>
        </p:txBody>
      </p:sp>
      <p:sp>
        <p:nvSpPr>
          <p:cNvPr id="13" name="Text 9"/>
          <p:cNvSpPr txBox="1"/>
          <p:nvPr/>
        </p:nvSpPr>
        <p:spPr>
          <a:xfrm>
            <a:off x="8183880" y="2898648"/>
            <a:ext cx="3291840" cy="365760"/>
          </a:xfrm>
          <a:prstGeom prst="rect">
            <a:avLst/>
          </a:prstGeom>
          <a:noFill/>
          <a:ln/>
        </p:spPr>
        <p:txBody>
          <a:bodyPr wrap="square" lIns="0" tIns="0" rIns="0" bIns="0" rtlCol="0" anchor="t"/>
          <a:lstStyle/>
          <a:p>
            <a:pPr indent="0" marL="0">
              <a:buNone/>
            </a:pPr>
            <a:r>
              <a:rPr lang="en-US" sz="1200" dirty="0">
                <a:solidFill>
                  <a:schemeClr val="accent5"/>
                </a:solidFill>
              </a:rPr>
              <a:t>unusual conditions</a:t>
            </a:r>
            <a:endParaRPr lang="en-US" sz="1200" dirty="0"/>
          </a:p>
        </p:txBody>
      </p:sp>
      <p:sp>
        <p:nvSpPr>
          <p:cNvPr id="14" name="Card"/>
          <p:cNvSpPr/>
          <p:nvPr/>
        </p:nvSpPr>
        <p:spPr>
          <a:xfrm>
            <a:off x="8046720" y="3383280"/>
            <a:ext cx="3566160" cy="1051560"/>
          </a:xfrm>
          <a:prstGeom prst="roundRect">
            <a:avLst>
              <a:gd name="adj" fmla="val 8696"/>
            </a:avLst>
          </a:prstGeom>
          <a:solidFill>
            <a:schemeClr val="bg2"/>
          </a:solidFill>
          <a:ln/>
        </p:spPr>
      </p:sp>
      <p:sp>
        <p:nvSpPr>
          <p:cNvPr id="15" name="Text 11"/>
          <p:cNvSpPr txBox="1"/>
          <p:nvPr/>
        </p:nvSpPr>
        <p:spPr>
          <a:xfrm>
            <a:off x="8183880" y="3493008"/>
            <a:ext cx="3291840" cy="525780"/>
          </a:xfrm>
          <a:prstGeom prst="rect">
            <a:avLst/>
          </a:prstGeom>
          <a:noFill/>
          <a:ln/>
        </p:spPr>
        <p:txBody>
          <a:bodyPr wrap="square" lIns="0" tIns="0" rIns="0" bIns="0" rtlCol="0" anchor="ctr"/>
          <a:lstStyle/>
          <a:p>
            <a:pPr indent="0" marL="0">
              <a:buNone/>
            </a:pPr>
            <a:r>
              <a:rPr lang="en-US" sz="2800" b="1" dirty="0">
                <a:solidFill>
                  <a:schemeClr val="tx2"/>
                </a:solidFill>
              </a:rPr>
              <a:t>20</a:t>
            </a:r>
            <a:endParaRPr lang="en-US" sz="2800" dirty="0"/>
          </a:p>
        </p:txBody>
      </p:sp>
      <p:sp>
        <p:nvSpPr>
          <p:cNvPr id="16" name="Text 12"/>
          <p:cNvSpPr txBox="1"/>
          <p:nvPr/>
        </p:nvSpPr>
        <p:spPr>
          <a:xfrm>
            <a:off x="8183880" y="4018788"/>
            <a:ext cx="3291840" cy="420624"/>
          </a:xfrm>
          <a:prstGeom prst="rect">
            <a:avLst/>
          </a:prstGeom>
          <a:noFill/>
          <a:ln/>
        </p:spPr>
        <p:txBody>
          <a:bodyPr wrap="square" lIns="0" tIns="0" rIns="0" bIns="0" rtlCol="0" anchor="t"/>
          <a:lstStyle/>
          <a:p>
            <a:pPr indent="0" marL="0">
              <a:buNone/>
            </a:pPr>
            <a:r>
              <a:rPr lang="en-US" sz="1200" dirty="0">
                <a:solidFill>
                  <a:schemeClr val="accent5"/>
                </a:solidFill>
              </a:rPr>
              <a:t>flagged by both</a:t>
            </a:r>
            <a:endParaRPr lang="en-US" sz="1200" dirty="0"/>
          </a:p>
        </p:txBody>
      </p:sp>
      <p:sp>
        <p:nvSpPr>
          <p:cNvPr id="17" name="Card"/>
          <p:cNvSpPr/>
          <p:nvPr/>
        </p:nvSpPr>
        <p:spPr>
          <a:xfrm>
            <a:off x="548640" y="4572000"/>
            <a:ext cx="3474720" cy="1691640"/>
          </a:xfrm>
          <a:prstGeom prst="roundRect">
            <a:avLst>
              <a:gd name="adj" fmla="val 5405"/>
            </a:avLst>
          </a:prstGeom>
          <a:solidFill>
            <a:schemeClr val="bg2"/>
          </a:solidFill>
          <a:ln/>
        </p:spPr>
      </p:sp>
      <p:sp>
        <p:nvSpPr>
          <p:cNvPr id="18" name="Text 14"/>
          <p:cNvSpPr txBox="1"/>
          <p:nvPr/>
        </p:nvSpPr>
        <p:spPr>
          <a:xfrm>
            <a:off x="731520" y="4681728"/>
            <a:ext cx="3108960" cy="320040"/>
          </a:xfrm>
          <a:prstGeom prst="rect">
            <a:avLst/>
          </a:prstGeom>
          <a:noFill/>
          <a:ln/>
        </p:spPr>
        <p:txBody>
          <a:bodyPr wrap="square" lIns="0" tIns="0" rIns="0" bIns="0" rtlCol="0" anchor="t"/>
          <a:lstStyle/>
          <a:p>
            <a:pPr indent="0" marL="0">
              <a:buNone/>
            </a:pPr>
            <a:r>
              <a:rPr lang="en-US" sz="1600" b="1" dirty="0">
                <a:solidFill>
                  <a:schemeClr val="accent1"/>
                </a:solidFill>
              </a:rPr>
              <a:t>Why we did this</a:t>
            </a:r>
            <a:endParaRPr lang="en-US" sz="1600" dirty="0"/>
          </a:p>
        </p:txBody>
      </p:sp>
      <p:sp>
        <p:nvSpPr>
          <p:cNvPr id="19" name="Text 15"/>
          <p:cNvSpPr txBox="1"/>
          <p:nvPr/>
        </p:nvSpPr>
        <p:spPr>
          <a:xfrm>
            <a:off x="731520" y="5074920"/>
            <a:ext cx="3108960" cy="1097280"/>
          </a:xfrm>
          <a:prstGeom prst="rect">
            <a:avLst/>
          </a:prstGeom>
          <a:noFill/>
          <a:ln/>
        </p:spPr>
        <p:txBody>
          <a:bodyPr wrap="square" lIns="0" tIns="0" rIns="0" bIns="0" rtlCol="0" anchor="t"/>
          <a:lstStyle/>
          <a:p>
            <a:pPr indent="0" marL="0">
              <a:buNone/>
            </a:pPr>
            <a:r>
              <a:rPr lang="en-US" sz="1400" dirty="0">
                <a:solidFill>
                  <a:schemeClr val="tx1"/>
                </a:solidFill>
              </a:rPr>
              <a:t>Surprising readings can mark events worth a closer look. Two methods catch different kinds of unusual.</a:t>
            </a:r>
            <a:endParaRPr lang="en-US" sz="1400" dirty="0"/>
          </a:p>
        </p:txBody>
      </p:sp>
      <p:sp>
        <p:nvSpPr>
          <p:cNvPr id="20" name="Card"/>
          <p:cNvSpPr/>
          <p:nvPr/>
        </p:nvSpPr>
        <p:spPr>
          <a:xfrm>
            <a:off x="4343400" y="4572000"/>
            <a:ext cx="3474720" cy="1691640"/>
          </a:xfrm>
          <a:prstGeom prst="roundRect">
            <a:avLst>
              <a:gd name="adj" fmla="val 5405"/>
            </a:avLst>
          </a:prstGeom>
          <a:solidFill>
            <a:schemeClr val="bg2"/>
          </a:solidFill>
          <a:ln/>
        </p:spPr>
      </p:sp>
      <p:sp>
        <p:nvSpPr>
          <p:cNvPr id="21" name="Text 17"/>
          <p:cNvSpPr txBox="1"/>
          <p:nvPr/>
        </p:nvSpPr>
        <p:spPr>
          <a:xfrm>
            <a:off x="4526280" y="4681728"/>
            <a:ext cx="3108960" cy="320040"/>
          </a:xfrm>
          <a:prstGeom prst="rect">
            <a:avLst/>
          </a:prstGeom>
          <a:noFill/>
          <a:ln/>
        </p:spPr>
        <p:txBody>
          <a:bodyPr wrap="square" lIns="0" tIns="0" rIns="0" bIns="0" rtlCol="0" anchor="t"/>
          <a:lstStyle/>
          <a:p>
            <a:pPr indent="0" marL="0">
              <a:buNone/>
            </a:pPr>
            <a:r>
              <a:rPr lang="en-US" sz="1600" b="1" dirty="0">
                <a:solidFill>
                  <a:schemeClr val="accent3"/>
                </a:solidFill>
              </a:rPr>
              <a:t>What we found</a:t>
            </a:r>
            <a:endParaRPr lang="en-US" sz="1600" dirty="0"/>
          </a:p>
        </p:txBody>
      </p:sp>
      <p:sp>
        <p:nvSpPr>
          <p:cNvPr id="22" name="Text 18"/>
          <p:cNvSpPr txBox="1"/>
          <p:nvPr/>
        </p:nvSpPr>
        <p:spPr>
          <a:xfrm>
            <a:off x="4526280" y="5074920"/>
            <a:ext cx="3108960" cy="1097280"/>
          </a:xfrm>
          <a:prstGeom prst="rect">
            <a:avLst/>
          </a:prstGeom>
          <a:noFill/>
          <a:ln/>
        </p:spPr>
        <p:txBody>
          <a:bodyPr wrap="square" lIns="0" tIns="0" rIns="0" bIns="0" rtlCol="0" anchor="t"/>
          <a:lstStyle/>
          <a:p>
            <a:pPr indent="0" marL="0">
              <a:buNone/>
            </a:pPr>
            <a:r>
              <a:rPr lang="en-US" sz="1400" dirty="0">
                <a:solidFill>
                  <a:schemeClr val="tx1"/>
                </a:solidFill>
              </a:rPr>
              <a:t>313 readings had large errors, 79 had unusual conditions, only 20 both. Flags do not prove waste.</a:t>
            </a:r>
            <a:endParaRPr lang="en-US" sz="1400" dirty="0"/>
          </a:p>
        </p:txBody>
      </p:sp>
      <p:sp>
        <p:nvSpPr>
          <p:cNvPr id="23" name="Card"/>
          <p:cNvSpPr/>
          <p:nvPr/>
        </p:nvSpPr>
        <p:spPr>
          <a:xfrm>
            <a:off x="8138160" y="4572000"/>
            <a:ext cx="3474720" cy="1691640"/>
          </a:xfrm>
          <a:prstGeom prst="roundRect">
            <a:avLst>
              <a:gd name="adj" fmla="val 5405"/>
            </a:avLst>
          </a:prstGeom>
          <a:solidFill>
            <a:schemeClr val="bg2"/>
          </a:solidFill>
          <a:ln/>
        </p:spPr>
      </p:sp>
      <p:sp>
        <p:nvSpPr>
          <p:cNvPr id="24" name="Text 20"/>
          <p:cNvSpPr txBox="1"/>
          <p:nvPr/>
        </p:nvSpPr>
        <p:spPr>
          <a:xfrm>
            <a:off x="8321040" y="4681728"/>
            <a:ext cx="3108960" cy="320040"/>
          </a:xfrm>
          <a:prstGeom prst="rect">
            <a:avLst/>
          </a:prstGeom>
          <a:noFill/>
          <a:ln/>
        </p:spPr>
        <p:txBody>
          <a:bodyPr wrap="square" lIns="0" tIns="0" rIns="0" bIns="0" rtlCol="0" anchor="t"/>
          <a:lstStyle/>
          <a:p>
            <a:pPr indent="0" marL="0">
              <a:buNone/>
            </a:pPr>
            <a:r>
              <a:rPr lang="en-US" sz="1600" b="1" dirty="0">
                <a:solidFill>
                  <a:schemeClr val="tx2"/>
                </a:solidFill>
              </a:rPr>
              <a:t>How it can help</a:t>
            </a:r>
            <a:endParaRPr lang="en-US" sz="1600" dirty="0"/>
          </a:p>
        </p:txBody>
      </p:sp>
      <p:sp>
        <p:nvSpPr>
          <p:cNvPr id="25" name="Text 21"/>
          <p:cNvSpPr txBox="1"/>
          <p:nvPr/>
        </p:nvSpPr>
        <p:spPr>
          <a:xfrm>
            <a:off x="8321040" y="5074920"/>
            <a:ext cx="3108960" cy="1097280"/>
          </a:xfrm>
          <a:prstGeom prst="rect">
            <a:avLst/>
          </a:prstGeom>
          <a:noFill/>
          <a:ln/>
        </p:spPr>
        <p:txBody>
          <a:bodyPr wrap="square" lIns="0" tIns="0" rIns="0" bIns="0" rtlCol="0" anchor="t"/>
          <a:lstStyle/>
          <a:p>
            <a:pPr indent="0" marL="0">
              <a:buNone/>
            </a:pPr>
            <a:r>
              <a:rPr lang="en-US" sz="1400" dirty="0">
                <a:solidFill>
                  <a:schemeClr val="tx1"/>
                </a:solidFill>
              </a:rPr>
              <a:t>Could point owners to moments to check, but context is needed to confirm anything.</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400" b="1" dirty="0">
                <a:solidFill>
                  <a:schemeClr val="tx2"/>
                </a:solidFill>
              </a:rPr>
              <a:t>Track A vs Track B</a:t>
            </a:r>
            <a:endParaRPr lang="en-US" sz="3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858000" cy="914400"/>
        </p:xfrm>
        <a:graphic>
          <a:graphicData uri="http://schemas.openxmlformats.org/drawingml/2006/table">
            <a:tbl>
              <a:tblPr/>
              <a:tblGrid>
                <a:gridCol w="640080"/>
                <a:gridCol w="2926080"/>
                <a:gridCol w="1097280"/>
                <a:gridCol w="1097280"/>
                <a:gridCol w="1097280"/>
              </a:tblGrid>
              <a:tr h="310896">
                <a:tc>
                  <a:txBody>
                    <a:bodyPr/>
                    <a:lstStyle/>
                    <a:p>
                      <a:pPr algn="l" indent="0" marL="0">
                        <a:buNone/>
                      </a:pPr>
                      <a:r>
                        <a:rPr lang="en-US" sz="1200" b="1" dirty="0">
                          <a:solidFill>
                            <a:srgbClr val="FFFFFF"/>
                          </a:solidFill>
                        </a:rPr>
                        <a:t>Track</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F2A43"/>
                    </a:solidFill>
                  </a:tcPr>
                </a:tc>
                <a:tc>
                  <a:txBody>
                    <a:bodyPr/>
                    <a:lstStyle/>
                    <a:p>
                      <a:pPr algn="l" indent="0" marL="0">
                        <a:buNone/>
                      </a:pPr>
                      <a:r>
                        <a:rPr lang="en-US" sz="1200" b="1" dirty="0">
                          <a:solidFill>
                            <a:srgbClr val="FFFFFF"/>
                          </a:solidFill>
                        </a:rPr>
                        <a:t>Model</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F2A43"/>
                    </a:solidFill>
                  </a:tcPr>
                </a:tc>
                <a:tc>
                  <a:txBody>
                    <a:bodyPr/>
                    <a:lstStyle/>
                    <a:p>
                      <a:pPr algn="l" indent="0" marL="0">
                        <a:buNone/>
                      </a:pPr>
                      <a:r>
                        <a:rPr lang="en-US" sz="1200" b="1" dirty="0">
                          <a:solidFill>
                            <a:srgbClr val="FFFFFF"/>
                          </a:solidFill>
                        </a:rPr>
                        <a:t>RMSE</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F2A43"/>
                    </a:solidFill>
                  </a:tcPr>
                </a:tc>
                <a:tc>
                  <a:txBody>
                    <a:bodyPr/>
                    <a:lstStyle/>
                    <a:p>
                      <a:pPr algn="l" indent="0" marL="0">
                        <a:buNone/>
                      </a:pPr>
                      <a:r>
                        <a:rPr lang="en-US" sz="1200" b="1" dirty="0">
                          <a:solidFill>
                            <a:srgbClr val="FFFFFF"/>
                          </a:solidFill>
                        </a:rPr>
                        <a:t>MAE</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F2A43"/>
                    </a:solidFill>
                  </a:tcPr>
                </a:tc>
                <a:tc>
                  <a:txBody>
                    <a:bodyPr/>
                    <a:lstStyle/>
                    <a:p>
                      <a:pPr algn="l" indent="0" marL="0">
                        <a:buNone/>
                      </a:pPr>
                      <a:r>
                        <a:rPr lang="en-US" sz="1200" b="1" dirty="0">
                          <a:solidFill>
                            <a:srgbClr val="FFFFFF"/>
                          </a:solidFill>
                        </a:rPr>
                        <a:t>R²</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F2A43"/>
                    </a:solidFill>
                  </a:tcPr>
                </a:tc>
              </a:tr>
              <a:tr h="310896">
                <a:tc>
                  <a:txBody>
                    <a:bodyPr/>
                    <a:lstStyle/>
                    <a:p>
                      <a:pPr algn="l" indent="0" marL="0">
                        <a:buNone/>
                      </a:pPr>
                      <a:r>
                        <a:rPr lang="en-US" sz="1200" dirty="0">
                          <a:solidFill>
                            <a:srgbClr val="1B2A38"/>
                          </a:solidFill>
                        </a:rPr>
                        <a:t>A</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B2A38"/>
                          </a:solidFill>
                        </a:rPr>
                        <a:t>Mean baseline</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B2A38"/>
                          </a:solidFill>
                        </a:rPr>
                        <a:t>91.053</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B2A38"/>
                          </a:solidFill>
                        </a:rPr>
                        <a:t>52.685</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B2A38"/>
                          </a:solidFill>
                        </a:rPr>
                        <a:t>-0.000</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r>
              <a:tr h="310896">
                <a:tc>
                  <a:txBody>
                    <a:bodyPr/>
                    <a:lstStyle/>
                    <a:p>
                      <a:pPr algn="l" indent="0" marL="0">
                        <a:buNone/>
                      </a:pPr>
                      <a:r>
                        <a:rPr lang="en-US" sz="1200" dirty="0">
                          <a:solidFill>
                            <a:srgbClr val="1B2A38"/>
                          </a:solidFill>
                        </a:rPr>
                        <a:t>A</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38"/>
                          </a:solidFill>
                        </a:rPr>
                        <a:t>Hour-of-day baseline</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38"/>
                          </a:solidFill>
                        </a:rPr>
                        <a:t>85.482</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38"/>
                          </a:solidFill>
                        </a:rPr>
                        <a:t>46.947</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38"/>
                          </a:solidFill>
                        </a:rPr>
                        <a:t>0.118</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B2A38"/>
                          </a:solidFill>
                        </a:rPr>
                        <a:t>A</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B2A38"/>
                          </a:solidFill>
                        </a:rPr>
                        <a:t>Ridge (tuned)</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B2A38"/>
                          </a:solidFill>
                        </a:rPr>
                        <a:t>87.777</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B2A38"/>
                          </a:solidFill>
                        </a:rPr>
                        <a:t>52.865</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B2A38"/>
                          </a:solidFill>
                        </a:rPr>
                        <a:t>0.07</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r>
              <a:tr h="310896">
                <a:tc>
                  <a:txBody>
                    <a:bodyPr/>
                    <a:lstStyle/>
                    <a:p>
                      <a:pPr algn="l" indent="0" marL="0">
                        <a:buNone/>
                      </a:pPr>
                      <a:r>
                        <a:rPr lang="en-US" sz="1200" dirty="0">
                          <a:solidFill>
                            <a:srgbClr val="1B2A38"/>
                          </a:solidFill>
                        </a:rPr>
                        <a:t>A</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38"/>
                          </a:solidFill>
                        </a:rPr>
                        <a:t>LightGBM (tuned)</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38"/>
                          </a:solidFill>
                        </a:rPr>
                        <a:t>86.807</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38"/>
                          </a:solidFill>
                        </a:rPr>
                        <a:t>47.315</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38"/>
                          </a:solidFill>
                        </a:rPr>
                        <a:t>0.091</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B2A38"/>
                          </a:solidFill>
                        </a:rPr>
                        <a:t>B</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B2A38"/>
                          </a:solidFill>
                        </a:rPr>
                        <a:t>Repeat last reading</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B2A38"/>
                          </a:solidFill>
                        </a:rPr>
                        <a:t>66.438</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B2A38"/>
                          </a:solidFill>
                        </a:rPr>
                        <a:t>26.651</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B2A38"/>
                          </a:solidFill>
                        </a:rPr>
                        <a:t>0.467</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r>
              <a:tr h="310896">
                <a:tc>
                  <a:txBody>
                    <a:bodyPr/>
                    <a:lstStyle/>
                    <a:p>
                      <a:pPr algn="l" indent="0" marL="0">
                        <a:buNone/>
                      </a:pPr>
                      <a:r>
                        <a:rPr lang="en-US" sz="1200" dirty="0">
                          <a:solidFill>
                            <a:srgbClr val="1B2A38"/>
                          </a:solidFill>
                        </a:rPr>
                        <a:t>B</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38"/>
                          </a:solidFill>
                        </a:rPr>
                        <a:t>Previous-hour mean</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38"/>
                          </a:solidFill>
                        </a:rPr>
                        <a:t>75.528</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38"/>
                          </a:solidFill>
                        </a:rPr>
                        <a:t>34.296</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38"/>
                          </a:solidFill>
                        </a:rPr>
                        <a:t>0.312</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B2A38"/>
                          </a:solidFill>
                        </a:rPr>
                        <a:t>B</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B2A38"/>
                          </a:solidFill>
                        </a:rPr>
                        <a:t>Ridge (tuned)</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B2A38"/>
                          </a:solidFill>
                        </a:rPr>
                        <a:t>61.156</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B2A38"/>
                          </a:solidFill>
                        </a:rPr>
                        <a:t>26.301</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B2A38"/>
                          </a:solidFill>
                        </a:rPr>
                        <a:t>0.549</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r>
              <a:tr h="310896">
                <a:tc>
                  <a:txBody>
                    <a:bodyPr/>
                    <a:lstStyle/>
                    <a:p>
                      <a:pPr algn="l" indent="0" marL="0">
                        <a:buNone/>
                      </a:pPr>
                      <a:r>
                        <a:rPr lang="en-US" sz="1200" dirty="0">
                          <a:solidFill>
                            <a:srgbClr val="1B2A38"/>
                          </a:solidFill>
                        </a:rPr>
                        <a:t>B</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38"/>
                          </a:solidFill>
                        </a:rPr>
                        <a:t>LightGBM (tuned)</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38"/>
                          </a:solidFill>
                        </a:rPr>
                        <a:t>60.226</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38"/>
                          </a:solidFill>
                        </a:rPr>
                        <a:t>27.097</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38"/>
                          </a:solidFill>
                        </a:rPr>
                        <a:t>0.562</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bl>
          </a:graphicData>
        </a:graphic>
      </p:graphicFrame>
      <p:graphicFrame>
        <p:nvGraphicFramePr>
          <p:cNvPr id="5" name="Chart 0" descr=""/>
          <p:cNvGraphicFramePr/>
          <p:nvPr/>
        </p:nvGraphicFramePr>
        <p:xfrm>
          <a:off x="7680960" y="1280160"/>
          <a:ext cx="3931920" cy="2926080"/>
        </p:xfrm>
        <a:graphic xmlns:a="http://schemas.openxmlformats.org/drawingml/2006/main">
          <a:graphicData uri="http://schemas.openxmlformats.org/drawingml/2006/chart">
            <c:chart xmlns:c="http://schemas.openxmlformats.org/drawingml/2006/chart" r:id="rId1"/>
          </a:graphicData>
        </a:graphic>
      </p:graphicFrame>
      <p:sp>
        <p:nvSpPr>
          <p:cNvPr id="6" name="Card"/>
          <p:cNvSpPr/>
          <p:nvPr/>
        </p:nvSpPr>
        <p:spPr>
          <a:xfrm>
            <a:off x="548640" y="4434840"/>
            <a:ext cx="3474720" cy="1783080"/>
          </a:xfrm>
          <a:prstGeom prst="roundRect">
            <a:avLst>
              <a:gd name="adj" fmla="val 5128"/>
            </a:avLst>
          </a:prstGeom>
          <a:solidFill>
            <a:schemeClr val="bg2"/>
          </a:solidFill>
          <a:ln/>
        </p:spPr>
      </p:sp>
      <p:sp>
        <p:nvSpPr>
          <p:cNvPr id="7" name="Text 2"/>
          <p:cNvSpPr txBox="1"/>
          <p:nvPr/>
        </p:nvSpPr>
        <p:spPr>
          <a:xfrm>
            <a:off x="731520" y="4544568"/>
            <a:ext cx="3108960" cy="320040"/>
          </a:xfrm>
          <a:prstGeom prst="rect">
            <a:avLst/>
          </a:prstGeom>
          <a:noFill/>
          <a:ln/>
        </p:spPr>
        <p:txBody>
          <a:bodyPr wrap="square" lIns="0" tIns="0" rIns="0" bIns="0" rtlCol="0" anchor="t"/>
          <a:lstStyle/>
          <a:p>
            <a:pPr indent="0" marL="0">
              <a:buNone/>
            </a:pPr>
            <a:r>
              <a:rPr lang="en-US" sz="1600" b="1" dirty="0">
                <a:solidFill>
                  <a:schemeClr val="accent1"/>
                </a:solidFill>
              </a:rPr>
              <a:t>Why we did this</a:t>
            </a:r>
            <a:endParaRPr lang="en-US" sz="1600" dirty="0"/>
          </a:p>
        </p:txBody>
      </p:sp>
      <p:sp>
        <p:nvSpPr>
          <p:cNvPr id="8" name="Text 3"/>
          <p:cNvSpPr txBox="1"/>
          <p:nvPr/>
        </p:nvSpPr>
        <p:spPr>
          <a:xfrm>
            <a:off x="731520" y="4937760"/>
            <a:ext cx="3108960" cy="1188720"/>
          </a:xfrm>
          <a:prstGeom prst="rect">
            <a:avLst/>
          </a:prstGeom>
          <a:noFill/>
          <a:ln/>
        </p:spPr>
        <p:txBody>
          <a:bodyPr wrap="square" lIns="0" tIns="0" rIns="0" bIns="0" rtlCol="0" anchor="t"/>
          <a:lstStyle/>
          <a:p>
            <a:pPr indent="0" marL="0">
              <a:buNone/>
            </a:pPr>
            <a:r>
              <a:rPr lang="en-US" sz="1400" dirty="0">
                <a:solidFill>
                  <a:schemeClr val="tx1"/>
                </a:solidFill>
              </a:rPr>
              <a:t>Track A uses only time and weather. Track B also sees recent use. Different tasks, so each has its own baseline.</a:t>
            </a:r>
            <a:endParaRPr lang="en-US" sz="1400" dirty="0"/>
          </a:p>
        </p:txBody>
      </p:sp>
      <p:sp>
        <p:nvSpPr>
          <p:cNvPr id="9" name="Card"/>
          <p:cNvSpPr/>
          <p:nvPr/>
        </p:nvSpPr>
        <p:spPr>
          <a:xfrm>
            <a:off x="4343400" y="4434840"/>
            <a:ext cx="3474720" cy="1783080"/>
          </a:xfrm>
          <a:prstGeom prst="roundRect">
            <a:avLst>
              <a:gd name="adj" fmla="val 5128"/>
            </a:avLst>
          </a:prstGeom>
          <a:solidFill>
            <a:schemeClr val="bg2"/>
          </a:solidFill>
          <a:ln/>
        </p:spPr>
      </p:sp>
      <p:sp>
        <p:nvSpPr>
          <p:cNvPr id="10" name="Text 5"/>
          <p:cNvSpPr txBox="1"/>
          <p:nvPr/>
        </p:nvSpPr>
        <p:spPr>
          <a:xfrm>
            <a:off x="4526280" y="4544568"/>
            <a:ext cx="3108960" cy="320040"/>
          </a:xfrm>
          <a:prstGeom prst="rect">
            <a:avLst/>
          </a:prstGeom>
          <a:noFill/>
          <a:ln/>
        </p:spPr>
        <p:txBody>
          <a:bodyPr wrap="square" lIns="0" tIns="0" rIns="0" bIns="0" rtlCol="0" anchor="t"/>
          <a:lstStyle/>
          <a:p>
            <a:pPr indent="0" marL="0">
              <a:buNone/>
            </a:pPr>
            <a:r>
              <a:rPr lang="en-US" sz="1600" b="1" dirty="0">
                <a:solidFill>
                  <a:schemeClr val="accent3"/>
                </a:solidFill>
              </a:rPr>
              <a:t>What we found</a:t>
            </a:r>
            <a:endParaRPr lang="en-US" sz="1600" dirty="0"/>
          </a:p>
        </p:txBody>
      </p:sp>
      <p:sp>
        <p:nvSpPr>
          <p:cNvPr id="11" name="Text 6"/>
          <p:cNvSpPr txBox="1"/>
          <p:nvPr/>
        </p:nvSpPr>
        <p:spPr>
          <a:xfrm>
            <a:off x="4526280" y="4937760"/>
            <a:ext cx="3108960" cy="1188720"/>
          </a:xfrm>
          <a:prstGeom prst="rect">
            <a:avLst/>
          </a:prstGeom>
          <a:noFill/>
          <a:ln/>
        </p:spPr>
        <p:txBody>
          <a:bodyPr wrap="square" lIns="0" tIns="0" rIns="0" bIns="0" rtlCol="0" anchor="t"/>
          <a:lstStyle/>
          <a:p>
            <a:pPr indent="0" marL="0">
              <a:buNone/>
            </a:pPr>
            <a:r>
              <a:rPr lang="en-US" sz="1400" dirty="0">
                <a:solidFill>
                  <a:schemeClr val="tx1"/>
                </a:solidFill>
              </a:rPr>
              <a:t>Recent use lifts R² from about 0.09 to 0.56. Only Ridge beat the repeat-last-reading baseline on both errors.</a:t>
            </a:r>
            <a:endParaRPr lang="en-US" sz="1400" dirty="0"/>
          </a:p>
        </p:txBody>
      </p:sp>
      <p:sp>
        <p:nvSpPr>
          <p:cNvPr id="12" name="Card"/>
          <p:cNvSpPr/>
          <p:nvPr/>
        </p:nvSpPr>
        <p:spPr>
          <a:xfrm>
            <a:off x="8138160" y="4434840"/>
            <a:ext cx="3474720" cy="1783080"/>
          </a:xfrm>
          <a:prstGeom prst="roundRect">
            <a:avLst>
              <a:gd name="adj" fmla="val 5128"/>
            </a:avLst>
          </a:prstGeom>
          <a:solidFill>
            <a:schemeClr val="bg2"/>
          </a:solidFill>
          <a:ln/>
        </p:spPr>
      </p:sp>
      <p:sp>
        <p:nvSpPr>
          <p:cNvPr id="13" name="Text 8"/>
          <p:cNvSpPr txBox="1"/>
          <p:nvPr/>
        </p:nvSpPr>
        <p:spPr>
          <a:xfrm>
            <a:off x="8321040" y="4544568"/>
            <a:ext cx="3108960" cy="320040"/>
          </a:xfrm>
          <a:prstGeom prst="rect">
            <a:avLst/>
          </a:prstGeom>
          <a:noFill/>
          <a:ln/>
        </p:spPr>
        <p:txBody>
          <a:bodyPr wrap="square" lIns="0" tIns="0" rIns="0" bIns="0" rtlCol="0" anchor="t"/>
          <a:lstStyle/>
          <a:p>
            <a:pPr indent="0" marL="0">
              <a:buNone/>
            </a:pPr>
            <a:r>
              <a:rPr lang="en-US" sz="1600" b="1" dirty="0">
                <a:solidFill>
                  <a:schemeClr val="tx2"/>
                </a:solidFill>
              </a:rPr>
              <a:t>How it can help</a:t>
            </a:r>
            <a:endParaRPr lang="en-US" sz="1600" dirty="0"/>
          </a:p>
        </p:txBody>
      </p:sp>
      <p:sp>
        <p:nvSpPr>
          <p:cNvPr id="14" name="Text 9"/>
          <p:cNvSpPr txBox="1"/>
          <p:nvPr/>
        </p:nvSpPr>
        <p:spPr>
          <a:xfrm>
            <a:off x="8321040" y="4937760"/>
            <a:ext cx="3108960" cy="1188720"/>
          </a:xfrm>
          <a:prstGeom prst="rect">
            <a:avLst/>
          </a:prstGeom>
          <a:noFill/>
          <a:ln/>
        </p:spPr>
        <p:txBody>
          <a:bodyPr wrap="square" lIns="0" tIns="0" rIns="0" bIns="0" rtlCol="0" anchor="t"/>
          <a:lstStyle/>
          <a:p>
            <a:pPr indent="0" marL="0">
              <a:buNone/>
            </a:pPr>
            <a:r>
              <a:rPr lang="en-US" sz="1400" dirty="0">
                <a:solidFill>
                  <a:schemeClr val="tx1"/>
                </a:solidFill>
              </a:rPr>
              <a:t>Short-term forecasts could give near-real-time feedback, if recent meter readings are available.</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400" b="1" dirty="0">
                <a:solidFill>
                  <a:schemeClr val="tx2"/>
                </a:solidFill>
              </a:rPr>
              <a:t>Key Findings and Limitations</a:t>
            </a:r>
            <a:endParaRPr lang="en-US" sz="3400" dirty="0"/>
          </a:p>
        </p:txBody>
      </p:sp>
      <p:sp>
        <p:nvSpPr>
          <p:cNvPr id="4" name="Card"/>
          <p:cNvSpPr/>
          <p:nvPr/>
        </p:nvSpPr>
        <p:spPr>
          <a:xfrm>
            <a:off x="548640" y="1280160"/>
            <a:ext cx="5394960" cy="4846320"/>
          </a:xfrm>
          <a:prstGeom prst="roundRect">
            <a:avLst>
              <a:gd name="adj" fmla="val 1887"/>
            </a:avLst>
          </a:prstGeom>
          <a:solidFill>
            <a:schemeClr val="bg2"/>
          </a:solidFill>
          <a:ln/>
        </p:spPr>
      </p:sp>
      <p:sp>
        <p:nvSpPr>
          <p:cNvPr id="5" name="Text 2"/>
          <p:cNvSpPr txBox="1"/>
          <p:nvPr/>
        </p:nvSpPr>
        <p:spPr>
          <a:xfrm>
            <a:off x="777240" y="1417320"/>
            <a:ext cx="4937760" cy="365760"/>
          </a:xfrm>
          <a:prstGeom prst="rect">
            <a:avLst/>
          </a:prstGeom>
          <a:noFill/>
          <a:ln/>
        </p:spPr>
        <p:txBody>
          <a:bodyPr wrap="square" lIns="0" tIns="0" rIns="0" bIns="0" rtlCol="0" anchor="t"/>
          <a:lstStyle/>
          <a:p>
            <a:pPr indent="0" marL="0">
              <a:buNone/>
            </a:pPr>
            <a:r>
              <a:rPr lang="en-US" sz="2000" b="1" dirty="0">
                <a:solidFill>
                  <a:schemeClr val="accent1"/>
                </a:solidFill>
              </a:rPr>
              <a:t>Key findings</a:t>
            </a:r>
            <a:endParaRPr lang="en-US" sz="2000" dirty="0"/>
          </a:p>
        </p:txBody>
      </p:sp>
      <p:sp>
        <p:nvSpPr>
          <p:cNvPr id="6" name="Text 3"/>
          <p:cNvSpPr txBox="1"/>
          <p:nvPr/>
        </p:nvSpPr>
        <p:spPr>
          <a:xfrm>
            <a:off x="777240" y="1920240"/>
            <a:ext cx="4937760" cy="4114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Track A is hard: best RMSE 84.513 Wh (tuned RF), R² 0.138; lowest MAE 43.867 Wh (AutoML)</a:t>
            </a:r>
            <a:endParaRPr lang="en-US" sz="1400" dirty="0"/>
          </a:p>
          <a:p>
            <a:pPr marL="342900" indent="-342900">
              <a:spcAft>
                <a:spcPts val="600"/>
              </a:spcAft>
              <a:buSzPct val="100000"/>
              <a:buChar char="•"/>
            </a:pPr>
            <a:r>
              <a:rPr lang="en-US" sz="1400" dirty="0">
                <a:solidFill>
                  <a:schemeClr val="tx1"/>
                </a:solidFill>
              </a:rPr>
              <a:t>Time of day carries much of the signal: hour-of-day baseline RMSE 85.482 Wh</a:t>
            </a:r>
            <a:endParaRPr lang="en-US" sz="1400" dirty="0"/>
          </a:p>
          <a:p>
            <a:pPr marL="342900" indent="-342900">
              <a:spcAft>
                <a:spcPts val="600"/>
              </a:spcAft>
              <a:buSzPct val="100000"/>
              <a:buChar char="•"/>
            </a:pPr>
            <a:r>
              <a:rPr lang="en-US" sz="1400" dirty="0">
                <a:solidFill>
                  <a:schemeClr val="tx1"/>
                </a:solidFill>
              </a:rPr>
              <a:t>Default RF and LightGBM were worse than the mean baseline; tuning fixed the RF</a:t>
            </a:r>
            <a:endParaRPr lang="en-US" sz="1400" dirty="0"/>
          </a:p>
          <a:p>
            <a:pPr marL="342900" indent="-342900">
              <a:spcAft>
                <a:spcPts val="600"/>
              </a:spcAft>
              <a:buSzPct val="100000"/>
              <a:buChar char="•"/>
            </a:pPr>
            <a:r>
              <a:rPr lang="en-US" sz="1400" dirty="0">
                <a:solidFill>
                  <a:schemeClr val="tx1"/>
                </a:solidFill>
              </a:rPr>
              <a:t>PCA did not improve Ridge; kept for exploration</a:t>
            </a:r>
            <a:endParaRPr lang="en-US" sz="1400" dirty="0"/>
          </a:p>
          <a:p>
            <a:pPr marL="342900" indent="-342900">
              <a:spcAft>
                <a:spcPts val="600"/>
              </a:spcAft>
              <a:buSzPct val="100000"/>
              <a:buChar char="•"/>
            </a:pPr>
            <a:r>
              <a:rPr lang="en-US" sz="1400" dirty="0">
                <a:solidFill>
                  <a:schemeClr val="tx1"/>
                </a:solidFill>
              </a:rPr>
              <a:t>Recent consumption helps: Track B R² up to 0.562; lag1 is the strongest predictor</a:t>
            </a:r>
            <a:endParaRPr lang="en-US" sz="1400" dirty="0"/>
          </a:p>
        </p:txBody>
      </p:sp>
      <p:sp>
        <p:nvSpPr>
          <p:cNvPr id="7" name="Card"/>
          <p:cNvSpPr/>
          <p:nvPr/>
        </p:nvSpPr>
        <p:spPr>
          <a:xfrm>
            <a:off x="6217920" y="1280160"/>
            <a:ext cx="5394960" cy="4846320"/>
          </a:xfrm>
          <a:prstGeom prst="roundRect">
            <a:avLst>
              <a:gd name="adj" fmla="val 1887"/>
            </a:avLst>
          </a:prstGeom>
          <a:solidFill>
            <a:schemeClr val="bg2"/>
          </a:solidFill>
          <a:ln/>
        </p:spPr>
      </p:sp>
      <p:sp>
        <p:nvSpPr>
          <p:cNvPr id="8" name="Text 5"/>
          <p:cNvSpPr txBox="1"/>
          <p:nvPr/>
        </p:nvSpPr>
        <p:spPr>
          <a:xfrm>
            <a:off x="6446520" y="1417320"/>
            <a:ext cx="4937760" cy="365760"/>
          </a:xfrm>
          <a:prstGeom prst="rect">
            <a:avLst/>
          </a:prstGeom>
          <a:noFill/>
          <a:ln/>
        </p:spPr>
        <p:txBody>
          <a:bodyPr wrap="square" lIns="0" tIns="0" rIns="0" bIns="0" rtlCol="0" anchor="t"/>
          <a:lstStyle/>
          <a:p>
            <a:pPr indent="0" marL="0">
              <a:buNone/>
            </a:pPr>
            <a:r>
              <a:rPr lang="en-US" sz="2000" b="1" dirty="0">
                <a:solidFill>
                  <a:schemeClr val="accent4"/>
                </a:solidFill>
              </a:rPr>
              <a:t>Limitations</a:t>
            </a:r>
            <a:endParaRPr lang="en-US" sz="2000" dirty="0"/>
          </a:p>
        </p:txBody>
      </p:sp>
      <p:sp>
        <p:nvSpPr>
          <p:cNvPr id="9" name="Text 6"/>
          <p:cNvSpPr txBox="1"/>
          <p:nvPr/>
        </p:nvSpPr>
        <p:spPr>
          <a:xfrm>
            <a:off x="6446520" y="1920240"/>
            <a:ext cx="4937760" cy="4114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One house and one ~4-week test period</a:t>
            </a:r>
            <a:endParaRPr lang="en-US" sz="1400" dirty="0"/>
          </a:p>
          <a:p>
            <a:pPr marL="342900" indent="-342900">
              <a:spcAft>
                <a:spcPts val="600"/>
              </a:spcAft>
              <a:buSzPct val="100000"/>
              <a:buChar char="•"/>
            </a:pPr>
            <a:r>
              <a:rPr lang="en-US" sz="1400" dirty="0">
                <a:solidFill>
                  <a:schemeClr val="tx1"/>
                </a:solidFill>
              </a:rPr>
              <a:t>Track A margins are tiny (AutoML beats the hour baseline by 0.035 Wh RMSE)</a:t>
            </a:r>
            <a:endParaRPr lang="en-US" sz="1400" dirty="0"/>
          </a:p>
          <a:p>
            <a:pPr marL="342900" indent="-342900">
              <a:spcAft>
                <a:spcPts val="600"/>
              </a:spcAft>
              <a:buSzPct val="100000"/>
              <a:buChar char="•"/>
            </a:pPr>
            <a:r>
              <a:rPr lang="en-US" sz="1400" dirty="0">
                <a:solidFill>
                  <a:schemeClr val="tx1"/>
                </a:solidFill>
              </a:rPr>
              <a:t>Peaks stay hard: MAE 396.5 Wh for readings above 400 Wh (Track A, tuned LightGBM)</a:t>
            </a:r>
            <a:endParaRPr lang="en-US" sz="1400" dirty="0"/>
          </a:p>
          <a:p>
            <a:pPr marL="342900" indent="-342900">
              <a:spcAft>
                <a:spcPts val="600"/>
              </a:spcAft>
              <a:buSzPct val="100000"/>
              <a:buChar char="•"/>
            </a:pPr>
            <a:r>
              <a:rPr lang="en-US" sz="1400" dirty="0">
                <a:solidFill>
                  <a:schemeClr val="tx1"/>
                </a:solidFill>
              </a:rPr>
              <a:t>Distribution shift: all-feature set test R² = -0.636</a:t>
            </a:r>
            <a:endParaRPr lang="en-US" sz="1400" dirty="0"/>
          </a:p>
          <a:p>
            <a:pPr marL="342900" indent="-342900">
              <a:spcAft>
                <a:spcPts val="600"/>
              </a:spcAft>
              <a:buSzPct val="100000"/>
              <a:buChar char="•"/>
            </a:pPr>
            <a:r>
              <a:rPr lang="en-US" sz="1400" dirty="0">
                <a:solidFill>
                  <a:schemeClr val="tx1"/>
                </a:solidFill>
              </a:rPr>
              <a:t>SHAP and anomaly flags describe the model; no causal or waste claims</a:t>
            </a:r>
            <a:endParaRPr lang="en-US" sz="1400" dirty="0"/>
          </a:p>
          <a:p>
            <a:pPr marL="342900" indent="-342900">
              <a:spcAft>
                <a:spcPts val="600"/>
              </a:spcAft>
              <a:buSzPct val="100000"/>
              <a:buChar char="•"/>
            </a:pPr>
            <a:r>
              <a:rPr lang="en-US" sz="1400" dirty="0">
                <a:solidFill>
                  <a:schemeClr val="tx1"/>
                </a:solidFill>
              </a:rPr>
              <a:t>Anomaly flags computed within the test period itself</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400" b="1" dirty="0">
                <a:solidFill>
                  <a:schemeClr val="tx2"/>
                </a:solidFill>
              </a:rPr>
              <a:t>Conclusion and Future Improvements</a:t>
            </a:r>
            <a:endParaRPr lang="en-US" sz="3400" dirty="0"/>
          </a:p>
        </p:txBody>
      </p:sp>
      <p:sp>
        <p:nvSpPr>
          <p:cNvPr id="4" name="Card"/>
          <p:cNvSpPr/>
          <p:nvPr/>
        </p:nvSpPr>
        <p:spPr>
          <a:xfrm>
            <a:off x="548640" y="1280160"/>
            <a:ext cx="3474720" cy="1417320"/>
          </a:xfrm>
          <a:prstGeom prst="roundRect">
            <a:avLst>
              <a:gd name="adj" fmla="val 6452"/>
            </a:avLst>
          </a:prstGeom>
          <a:solidFill>
            <a:schemeClr val="bg2"/>
          </a:solidFill>
          <a:ln/>
        </p:spPr>
      </p:sp>
      <p:sp>
        <p:nvSpPr>
          <p:cNvPr id="5" name="Text 2"/>
          <p:cNvSpPr txBox="1"/>
          <p:nvPr/>
        </p:nvSpPr>
        <p:spPr>
          <a:xfrm>
            <a:off x="685800" y="1389888"/>
            <a:ext cx="3200400" cy="708660"/>
          </a:xfrm>
          <a:prstGeom prst="rect">
            <a:avLst/>
          </a:prstGeom>
          <a:noFill/>
          <a:ln/>
        </p:spPr>
        <p:txBody>
          <a:bodyPr wrap="square" lIns="0" tIns="0" rIns="0" bIns="0" rtlCol="0" anchor="ctr"/>
          <a:lstStyle/>
          <a:p>
            <a:pPr indent="0" marL="0">
              <a:buNone/>
            </a:pPr>
            <a:r>
              <a:rPr lang="en-US" sz="2800" b="1" dirty="0">
                <a:solidFill>
                  <a:schemeClr val="tx2"/>
                </a:solidFill>
              </a:rPr>
              <a:t>84.513 Wh</a:t>
            </a:r>
            <a:endParaRPr lang="en-US" sz="2800" dirty="0"/>
          </a:p>
        </p:txBody>
      </p:sp>
      <p:sp>
        <p:nvSpPr>
          <p:cNvPr id="6" name="Text 3"/>
          <p:cNvSpPr txBox="1"/>
          <p:nvPr/>
        </p:nvSpPr>
        <p:spPr>
          <a:xfrm>
            <a:off x="685800" y="2098548"/>
            <a:ext cx="3200400" cy="566928"/>
          </a:xfrm>
          <a:prstGeom prst="rect">
            <a:avLst/>
          </a:prstGeom>
          <a:noFill/>
          <a:ln/>
        </p:spPr>
        <p:txBody>
          <a:bodyPr wrap="square" lIns="0" tIns="0" rIns="0" bIns="0" rtlCol="0" anchor="t"/>
          <a:lstStyle/>
          <a:p>
            <a:pPr indent="0" marL="0">
              <a:buNone/>
            </a:pPr>
            <a:r>
              <a:rPr lang="en-US" sz="1200" dirty="0">
                <a:solidFill>
                  <a:schemeClr val="accent5"/>
                </a:solidFill>
              </a:rPr>
              <a:t>Track A best RMSE: tuned Random Forest (R² 0.138)</a:t>
            </a:r>
            <a:endParaRPr lang="en-US" sz="1200" dirty="0"/>
          </a:p>
        </p:txBody>
      </p:sp>
      <p:sp>
        <p:nvSpPr>
          <p:cNvPr id="7" name="Card"/>
          <p:cNvSpPr/>
          <p:nvPr/>
        </p:nvSpPr>
        <p:spPr>
          <a:xfrm>
            <a:off x="4343400" y="1280160"/>
            <a:ext cx="3474720" cy="1417320"/>
          </a:xfrm>
          <a:prstGeom prst="roundRect">
            <a:avLst>
              <a:gd name="adj" fmla="val 6452"/>
            </a:avLst>
          </a:prstGeom>
          <a:solidFill>
            <a:schemeClr val="bg2"/>
          </a:solidFill>
          <a:ln/>
        </p:spPr>
      </p:sp>
      <p:sp>
        <p:nvSpPr>
          <p:cNvPr id="8" name="Text 5"/>
          <p:cNvSpPr txBox="1"/>
          <p:nvPr/>
        </p:nvSpPr>
        <p:spPr>
          <a:xfrm>
            <a:off x="4480560" y="1389888"/>
            <a:ext cx="3200400" cy="708660"/>
          </a:xfrm>
          <a:prstGeom prst="rect">
            <a:avLst/>
          </a:prstGeom>
          <a:noFill/>
          <a:ln/>
        </p:spPr>
        <p:txBody>
          <a:bodyPr wrap="square" lIns="0" tIns="0" rIns="0" bIns="0" rtlCol="0" anchor="ctr"/>
          <a:lstStyle/>
          <a:p>
            <a:pPr indent="0" marL="0">
              <a:buNone/>
            </a:pPr>
            <a:r>
              <a:rPr lang="en-US" sz="2800" b="1" dirty="0">
                <a:solidFill>
                  <a:schemeClr val="tx2"/>
                </a:solidFill>
              </a:rPr>
              <a:t>43.867 Wh</a:t>
            </a:r>
            <a:endParaRPr lang="en-US" sz="2800" dirty="0"/>
          </a:p>
        </p:txBody>
      </p:sp>
      <p:sp>
        <p:nvSpPr>
          <p:cNvPr id="9" name="Text 6"/>
          <p:cNvSpPr txBox="1"/>
          <p:nvPr/>
        </p:nvSpPr>
        <p:spPr>
          <a:xfrm>
            <a:off x="4480560" y="2098548"/>
            <a:ext cx="3200400" cy="566928"/>
          </a:xfrm>
          <a:prstGeom prst="rect">
            <a:avLst/>
          </a:prstGeom>
          <a:noFill/>
          <a:ln/>
        </p:spPr>
        <p:txBody>
          <a:bodyPr wrap="square" lIns="0" tIns="0" rIns="0" bIns="0" rtlCol="0" anchor="t"/>
          <a:lstStyle/>
          <a:p>
            <a:pPr indent="0" marL="0">
              <a:buNone/>
            </a:pPr>
            <a:r>
              <a:rPr lang="en-US" sz="1200" dirty="0">
                <a:solidFill>
                  <a:schemeClr val="accent5"/>
                </a:solidFill>
              </a:rPr>
              <a:t>Track A lowest MAE: AutoML Extra Trees</a:t>
            </a:r>
            <a:endParaRPr lang="en-US" sz="1200" dirty="0"/>
          </a:p>
        </p:txBody>
      </p:sp>
      <p:sp>
        <p:nvSpPr>
          <p:cNvPr id="10" name="Card"/>
          <p:cNvSpPr/>
          <p:nvPr/>
        </p:nvSpPr>
        <p:spPr>
          <a:xfrm>
            <a:off x="8138160" y="1280160"/>
            <a:ext cx="3474720" cy="1417320"/>
          </a:xfrm>
          <a:prstGeom prst="roundRect">
            <a:avLst>
              <a:gd name="adj" fmla="val 6452"/>
            </a:avLst>
          </a:prstGeom>
          <a:solidFill>
            <a:schemeClr val="bg2"/>
          </a:solidFill>
          <a:ln/>
        </p:spPr>
      </p:sp>
      <p:sp>
        <p:nvSpPr>
          <p:cNvPr id="11" name="Text 8"/>
          <p:cNvSpPr txBox="1"/>
          <p:nvPr/>
        </p:nvSpPr>
        <p:spPr>
          <a:xfrm>
            <a:off x="8275320" y="1389888"/>
            <a:ext cx="3200400" cy="708660"/>
          </a:xfrm>
          <a:prstGeom prst="rect">
            <a:avLst/>
          </a:prstGeom>
          <a:noFill/>
          <a:ln/>
        </p:spPr>
        <p:txBody>
          <a:bodyPr wrap="square" lIns="0" tIns="0" rIns="0" bIns="0" rtlCol="0" anchor="ctr"/>
          <a:lstStyle/>
          <a:p>
            <a:pPr indent="0" marL="0">
              <a:buNone/>
            </a:pPr>
            <a:r>
              <a:rPr lang="en-US" sz="2800" b="1" dirty="0">
                <a:solidFill>
                  <a:schemeClr val="tx2"/>
                </a:solidFill>
              </a:rPr>
              <a:t>60.226 Wh</a:t>
            </a:r>
            <a:endParaRPr lang="en-US" sz="2800" dirty="0"/>
          </a:p>
        </p:txBody>
      </p:sp>
      <p:sp>
        <p:nvSpPr>
          <p:cNvPr id="12" name="Text 9"/>
          <p:cNvSpPr txBox="1"/>
          <p:nvPr/>
        </p:nvSpPr>
        <p:spPr>
          <a:xfrm>
            <a:off x="8275320" y="2098548"/>
            <a:ext cx="3200400" cy="566928"/>
          </a:xfrm>
          <a:prstGeom prst="rect">
            <a:avLst/>
          </a:prstGeom>
          <a:noFill/>
          <a:ln/>
        </p:spPr>
        <p:txBody>
          <a:bodyPr wrap="square" lIns="0" tIns="0" rIns="0" bIns="0" rtlCol="0" anchor="t"/>
          <a:lstStyle/>
          <a:p>
            <a:pPr indent="0" marL="0">
              <a:buNone/>
            </a:pPr>
            <a:r>
              <a:rPr lang="en-US" sz="1200" dirty="0">
                <a:solidFill>
                  <a:schemeClr val="accent5"/>
                </a:solidFill>
              </a:rPr>
              <a:t>Track B best RMSE: tuned LightGBM (R² 0.562)</a:t>
            </a:r>
            <a:endParaRPr lang="en-US" sz="1200" dirty="0"/>
          </a:p>
        </p:txBody>
      </p:sp>
      <p:sp>
        <p:nvSpPr>
          <p:cNvPr id="13" name="Card"/>
          <p:cNvSpPr/>
          <p:nvPr/>
        </p:nvSpPr>
        <p:spPr>
          <a:xfrm>
            <a:off x="548640" y="2926080"/>
            <a:ext cx="5394960" cy="3200400"/>
          </a:xfrm>
          <a:prstGeom prst="roundRect">
            <a:avLst>
              <a:gd name="adj" fmla="val 2857"/>
            </a:avLst>
          </a:prstGeom>
          <a:solidFill>
            <a:schemeClr val="bg2"/>
          </a:solidFill>
          <a:ln/>
        </p:spPr>
      </p:sp>
      <p:sp>
        <p:nvSpPr>
          <p:cNvPr id="14" name="Text 11"/>
          <p:cNvSpPr txBox="1"/>
          <p:nvPr/>
        </p:nvSpPr>
        <p:spPr>
          <a:xfrm>
            <a:off x="777240" y="3063240"/>
            <a:ext cx="4937760" cy="365760"/>
          </a:xfrm>
          <a:prstGeom prst="rect">
            <a:avLst/>
          </a:prstGeom>
          <a:noFill/>
          <a:ln/>
        </p:spPr>
        <p:txBody>
          <a:bodyPr wrap="square" lIns="0" tIns="0" rIns="0" bIns="0" rtlCol="0" anchor="t"/>
          <a:lstStyle/>
          <a:p>
            <a:pPr indent="0" marL="0">
              <a:buNone/>
            </a:pPr>
            <a:r>
              <a:rPr lang="en-US" sz="1800" b="1" dirty="0">
                <a:solidFill>
                  <a:schemeClr val="accent1"/>
                </a:solidFill>
              </a:rPr>
              <a:t>Conclusions and how they help</a:t>
            </a:r>
            <a:endParaRPr lang="en-US" sz="1800" dirty="0"/>
          </a:p>
        </p:txBody>
      </p:sp>
      <p:sp>
        <p:nvSpPr>
          <p:cNvPr id="15" name="Text 12"/>
          <p:cNvSpPr txBox="1"/>
          <p:nvPr/>
        </p:nvSpPr>
        <p:spPr>
          <a:xfrm>
            <a:off x="777240" y="3520440"/>
            <a:ext cx="4937760"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Weather and time alone give only modest accuracy</a:t>
            </a:r>
            <a:endParaRPr lang="en-US" sz="1400" dirty="0"/>
          </a:p>
          <a:p>
            <a:pPr marL="342900" indent="-342900">
              <a:spcAft>
                <a:spcPts val="600"/>
              </a:spcAft>
              <a:buSzPct val="100000"/>
              <a:buChar char="•"/>
            </a:pPr>
            <a:r>
              <a:rPr lang="en-US" sz="1400" dirty="0">
                <a:solidFill>
                  <a:schemeClr val="tx1"/>
                </a:solidFill>
              </a:rPr>
              <a:t>Recent use is the biggest single gain in accuracy</a:t>
            </a:r>
            <a:endParaRPr lang="en-US" sz="1400" dirty="0"/>
          </a:p>
          <a:p>
            <a:pPr marL="342900" indent="-342900">
              <a:spcAft>
                <a:spcPts val="600"/>
              </a:spcAft>
              <a:buSzPct val="100000"/>
              <a:buChar char="•"/>
            </a:pPr>
            <a:r>
              <a:rPr lang="en-US" sz="1400" dirty="0">
                <a:solidFill>
                  <a:schemeClr val="tx1"/>
                </a:solidFill>
              </a:rPr>
              <a:t>Can guide rough planning and awareness of peaks, not precise control; more homes and periods are needed</a:t>
            </a:r>
            <a:endParaRPr lang="en-US" sz="1400" dirty="0"/>
          </a:p>
        </p:txBody>
      </p:sp>
      <p:sp>
        <p:nvSpPr>
          <p:cNvPr id="16" name="Card"/>
          <p:cNvSpPr/>
          <p:nvPr/>
        </p:nvSpPr>
        <p:spPr>
          <a:xfrm>
            <a:off x="6217920" y="2926080"/>
            <a:ext cx="5394960" cy="3200400"/>
          </a:xfrm>
          <a:prstGeom prst="roundRect">
            <a:avLst>
              <a:gd name="adj" fmla="val 2857"/>
            </a:avLst>
          </a:prstGeom>
          <a:solidFill>
            <a:schemeClr val="bg2"/>
          </a:solidFill>
          <a:ln/>
        </p:spPr>
      </p:sp>
      <p:sp>
        <p:nvSpPr>
          <p:cNvPr id="17" name="Text 14"/>
          <p:cNvSpPr txBox="1"/>
          <p:nvPr/>
        </p:nvSpPr>
        <p:spPr>
          <a:xfrm>
            <a:off x="6446520" y="3063240"/>
            <a:ext cx="4937760" cy="365760"/>
          </a:xfrm>
          <a:prstGeom prst="rect">
            <a:avLst/>
          </a:prstGeom>
          <a:noFill/>
          <a:ln/>
        </p:spPr>
        <p:txBody>
          <a:bodyPr wrap="square" lIns="0" tIns="0" rIns="0" bIns="0" rtlCol="0" anchor="t"/>
          <a:lstStyle/>
          <a:p>
            <a:pPr indent="0" marL="0">
              <a:buNone/>
            </a:pPr>
            <a:r>
              <a:rPr lang="en-US" sz="1800" b="1" dirty="0">
                <a:solidFill>
                  <a:schemeClr val="accent1"/>
                </a:solidFill>
              </a:rPr>
              <a:t>Future improvements (proposed)</a:t>
            </a:r>
            <a:endParaRPr lang="en-US" sz="1800" dirty="0"/>
          </a:p>
        </p:txBody>
      </p:sp>
      <p:sp>
        <p:nvSpPr>
          <p:cNvPr id="18" name="Text 15"/>
          <p:cNvSpPr txBox="1"/>
          <p:nvPr/>
        </p:nvSpPr>
        <p:spPr>
          <a:xfrm>
            <a:off x="6446520" y="3520440"/>
            <a:ext cx="4937760"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Test on more homes and time periods</a:t>
            </a:r>
            <a:endParaRPr lang="en-US" sz="1400" dirty="0"/>
          </a:p>
          <a:p>
            <a:pPr marL="342900" indent="-342900">
              <a:spcAft>
                <a:spcPts val="600"/>
              </a:spcAft>
              <a:buSzPct val="100000"/>
              <a:buChar char="•"/>
            </a:pPr>
            <a:r>
              <a:rPr lang="en-US" sz="1400" dirty="0">
                <a:solidFill>
                  <a:schemeClr val="tx1"/>
                </a:solidFill>
              </a:rPr>
              <a:t>Use rolling-origin splits to check stability</a:t>
            </a:r>
            <a:endParaRPr lang="en-US" sz="1400" dirty="0"/>
          </a:p>
          <a:p>
            <a:pPr marL="342900" indent="-342900">
              <a:spcAft>
                <a:spcPts val="600"/>
              </a:spcAft>
              <a:buSzPct val="100000"/>
              <a:buChar char="•"/>
            </a:pPr>
            <a:r>
              <a:rPr lang="en-US" sz="1400" dirty="0">
                <a:solidFill>
                  <a:schemeClr val="tx1"/>
                </a:solidFill>
              </a:rPr>
              <a:t>Set anomaly thresholds on training or validation data only</a:t>
            </a:r>
            <a:endParaRPr lang="en-US" sz="1400" dirty="0"/>
          </a:p>
          <a:p>
            <a:pPr marL="342900" indent="-342900">
              <a:spcAft>
                <a:spcPts val="600"/>
              </a:spcAft>
              <a:buSzPct val="100000"/>
              <a:buChar char="•"/>
            </a:pPr>
            <a:r>
              <a:rPr lang="en-US" sz="1400" dirty="0">
                <a:solidFill>
                  <a:schemeClr val="tx1"/>
                </a:solidFill>
              </a:rPr>
              <a:t>Add context (e.g. occupancy) before interpreting flagged peaks</a:t>
            </a:r>
            <a:endParaRPr lang="en-US" sz="1400" dirty="0"/>
          </a:p>
          <a:p>
            <a:pPr marL="342900" indent="-342900">
              <a:spcAft>
                <a:spcPts val="600"/>
              </a:spcAft>
              <a:buSzPct val="100000"/>
              <a:buChar char="•"/>
            </a:pPr>
            <a:r>
              <a:rPr lang="en-US" sz="1400" dirty="0">
                <a:solidFill>
                  <a:schemeClr val="tx1"/>
                </a:solidFill>
              </a:rPr>
              <a:t>Try approaches aimed at peaks, e.g. quantile models</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7863840" cy="2103120"/>
          </a:xfrm>
          <a:prstGeom prst="rect">
            <a:avLst/>
          </a:prstGeom>
          <a:noFill/>
          <a:ln/>
        </p:spPr>
        <p:txBody>
          <a:bodyPr wrap="square" rtlCol="0" anchor="t"/>
          <a:lstStyle/>
          <a:p>
            <a:pPr algn="l" indent="0" marL="0">
              <a:buNone/>
            </a:pPr>
            <a:r>
              <a:rPr lang="en-US" sz="4400" b="1" dirty="0">
                <a:solidFill>
                  <a:schemeClr val="bg1"/>
                </a:solidFill>
              </a:rPr>
              <a:t>Questions?</a:t>
            </a:r>
            <a:endParaRPr lang="en-US" sz="4400" dirty="0"/>
          </a:p>
        </p:txBody>
      </p:sp>
      <p:sp>
        <p:nvSpPr>
          <p:cNvPr id="3" name="Text 1"/>
          <p:cNvSpPr txBox="1"/>
          <p:nvPr/>
        </p:nvSpPr>
        <p:spPr>
          <a:xfrm>
            <a:off x="731520" y="3108960"/>
            <a:ext cx="7315200" cy="548640"/>
          </a:xfrm>
          <a:prstGeom prst="rect">
            <a:avLst/>
          </a:prstGeom>
          <a:noFill/>
          <a:ln/>
        </p:spPr>
        <p:txBody>
          <a:bodyPr wrap="square" lIns="0" tIns="0" rIns="0" bIns="0" rtlCol="0" anchor="t"/>
          <a:lstStyle/>
          <a:p>
            <a:pPr indent="0" marL="0">
              <a:buNone/>
            </a:pPr>
            <a:r>
              <a:rPr lang="en-US" sz="2400" dirty="0">
                <a:solidFill>
                  <a:schemeClr val="accent6"/>
                </a:solidFill>
              </a:rPr>
              <a:t>Thank you</a:t>
            </a:r>
            <a:endParaRPr lang="en-US" sz="2400" dirty="0"/>
          </a:p>
        </p:txBody>
      </p:sp>
      <p:sp>
        <p:nvSpPr>
          <p:cNvPr id="4" name="Shape 2"/>
          <p:cNvSpPr/>
          <p:nvPr/>
        </p:nvSpPr>
        <p:spPr>
          <a:xfrm>
            <a:off x="8686800" y="914400"/>
            <a:ext cx="3108960" cy="3108960"/>
          </a:xfrm>
          <a:prstGeom prst="ellipse">
            <a:avLst/>
          </a:prstGeom>
          <a:noFill/>
          <a:ln w="38100">
            <a:solidFill>
              <a:srgbClr val="1B998B"/>
            </a:solidFill>
            <a:prstDash val="solid"/>
          </a:ln>
        </p:spPr>
      </p:sp>
      <p:sp>
        <p:nvSpPr>
          <p:cNvPr id="5" name="Shape 3"/>
          <p:cNvSpPr/>
          <p:nvPr/>
        </p:nvSpPr>
        <p:spPr>
          <a:xfrm>
            <a:off x="9326880" y="1554480"/>
            <a:ext cx="1828800" cy="1828800"/>
          </a:xfrm>
          <a:prstGeom prst="ellipse">
            <a:avLst/>
          </a:prstGeom>
          <a:noFill/>
          <a:ln w="38100">
            <a:solidFill>
              <a:srgbClr val="F4A300"/>
            </a:solidFill>
            <a:prstDash val="solid"/>
          </a:ln>
        </p:spPr>
      </p:sp>
      <p:sp>
        <p:nvSpPr>
          <p:cNvPr id="6" name="Shape 4"/>
          <p:cNvSpPr/>
          <p:nvPr/>
        </p:nvSpPr>
        <p:spPr>
          <a:xfrm>
            <a:off x="9966960" y="2194560"/>
            <a:ext cx="548640" cy="548640"/>
          </a:xfrm>
          <a:prstGeom prst="ellipse">
            <a:avLst/>
          </a:prstGeom>
          <a:solidFill>
            <a:srgbClr val="F4A300"/>
          </a:solidFill>
          <a:ln/>
        </p:spPr>
      </p:sp>
    </p:spTree>
  </p:cSld>
  <p:clrMapOvr>
    <a:masterClrMapping/>
  </p:clrMapOvr>
</p:sld>
</file>

<file path=ppt/theme/theme1.xml><?xml version="1.0" encoding="utf-8"?>
<a:theme xmlns:a="http://schemas.openxmlformats.org/drawingml/2006/main" name="Energy Academic">
  <a:themeElements>
    <a:clrScheme name="Energy Academic">
      <a:dk1>
        <a:srgbClr val="1B2A38"/>
      </a:dk1>
      <a:lt1>
        <a:srgbClr val="FFFFFF"/>
      </a:lt1>
      <a:dk2>
        <a:srgbClr val="0F2A43"/>
      </a:dk2>
      <a:lt2>
        <a:srgbClr val="EEF3F7"/>
      </a:lt2>
      <a:accent1>
        <a:srgbClr val="1B998B"/>
      </a:accent1>
      <a:accent2>
        <a:srgbClr val="F4A300"/>
      </a:accent2>
      <a:accent3>
        <a:srgbClr val="2E6DA4"/>
      </a:accent3>
      <a:accent4>
        <a:srgbClr val="C8553D"/>
      </a:accent4>
      <a:accent5>
        <a:srgbClr val="6B7C8C"/>
      </a:accent5>
      <a:accent6>
        <a:srgbClr val="8FD3C8"/>
      </a:accent6>
      <a:hlink>
        <a:srgbClr val="2E6DA4"/>
      </a:hlink>
      <a:folHlink>
        <a:srgbClr val="6B5B95"/>
      </a:folHlink>
    </a:clrScheme>
    <a:fontScheme name="Energy Academic">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Appliances Energy Consumption Prediction Using Machine Learning</dc:title>
  <dc:subject>PptxGenJS Presentation</dc:subject>
  <dc:creator>PptxGenJS</dc:creator>
  <cp:lastModifiedBy>PptxGenJS</cp:lastModifiedBy>
  <cp:revision>1</cp:revision>
  <dcterms:created xsi:type="dcterms:W3CDTF">2026-10-23T09:13:12Z</dcterms:created>
  <dcterms:modified xsi:type="dcterms:W3CDTF">2026-10-23T09:13:12Z</dcterms:modified>
</cp:coreProperties>
</file>